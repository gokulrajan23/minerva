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7" r:id="rId4"/>
    <p:sldId id="259" r:id="rId5"/>
    <p:sldId id="281" r:id="rId6"/>
    <p:sldId id="261" r:id="rId7"/>
    <p:sldId id="262" r:id="rId8"/>
    <p:sldId id="273" r:id="rId9"/>
    <p:sldId id="263" r:id="rId10"/>
    <p:sldId id="264" r:id="rId11"/>
    <p:sldId id="282" r:id="rId12"/>
    <p:sldId id="276" r:id="rId13"/>
    <p:sldId id="280" r:id="rId14"/>
    <p:sldId id="271" r:id="rId15"/>
    <p:sldId id="269" r:id="rId16"/>
    <p:sldId id="272" r:id="rId17"/>
    <p:sldId id="279" r:id="rId18"/>
    <p:sldId id="278" r:id="rId19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06"/>
    <p:restoredTop sz="94762"/>
  </p:normalViewPr>
  <p:slideViewPr>
    <p:cSldViewPr snapToGrid="0">
      <p:cViewPr>
        <p:scale>
          <a:sx n="86" d="100"/>
          <a:sy n="86" d="100"/>
        </p:scale>
        <p:origin x="416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664B0B-F9D8-AB40-A6AE-5DCD90A0EC98}" type="datetimeFigureOut">
              <a:rPr lang="en-DE" smtClean="0"/>
              <a:t>08.04.26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5DDDB-FABA-0847-A93C-478A33CC09B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046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lost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5DDDB-FABA-0847-A93C-478A33CC09B0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106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sometimes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5DDDB-FABA-0847-A93C-478A33CC09B0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17085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5DDDB-FABA-0847-A93C-478A33CC09B0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2794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5DDDB-FABA-0847-A93C-478A33CC09B0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8650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ACA29-A717-9584-827B-C21A4A84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16E075-5EA7-94CA-1BC5-252644BBD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007F6-7BEE-069C-6831-35D78E149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450CB-572E-1D35-B70F-007E89C65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5DDDB-FABA-0847-A93C-478A33CC09B0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27343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2667B-F557-3ACC-D876-B3F6B141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09B8F-A3B8-E379-3F82-9A22C1C66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970EE-284A-0ABA-E399-C164BEE61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85FD1-CD55-B4E7-845A-01027F79C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5DDDB-FABA-0847-A93C-478A33CC09B0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7341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E35C5-D3EB-BEC8-32F1-1102E097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DD110-F543-0451-CE4E-737A382EB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E671F-4AF3-AA5E-DD85-023C64C74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051B9-F5E4-ADD6-7630-DDA9693D4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5DDDB-FABA-0847-A93C-478A33CC09B0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25537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C03D-46BB-F77B-FA6A-D93DFE6E0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FE60B-4E5E-D89A-3082-9B17DBAE2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E1080-BDE5-391C-0CC4-4E3F197E5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57C2-7561-5A4E-9393-CA7D44B813CF}" type="datetime1">
              <a:rPr lang="de-DE" smtClean="0"/>
              <a:t>09.04.26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9575-7ECB-1FCB-A6E3-8CCEE59B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AE754-4335-6B0E-EB52-AAAABA8A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4119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5C74-E64F-49AB-16C2-A1AE5662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2CA89-3094-7A76-BF56-8B0FE4215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7146E-43EC-5E09-13A6-2786A7AB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5DBE-65DF-754A-96BF-3F9B4629AE7E}" type="datetime1">
              <a:rPr lang="de-DE" smtClean="0"/>
              <a:t>09.04.26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3B16D-29A1-B612-D4C3-3E98C91B3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80C8C-699E-5F5B-8EEA-0B959F4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5840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D8DC-913C-DA63-53E0-D02FA77C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C085A-1CC4-3959-1CBA-0CF972D40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C00FC-69B7-A783-238A-A4E124B6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91505-9DEE-FD49-B01D-261611814F70}" type="datetime1">
              <a:rPr lang="de-DE" smtClean="0"/>
              <a:t>09.04.26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2E91A-D532-3D1D-1297-B6AD80DF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5D137-D97D-5CDD-8401-EF64F829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6289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C839-F6C9-5B5C-61AF-D7469D1E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1F5F2-D503-FB40-CBAF-29FF671C3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E4AF0-E50F-6734-EC4A-0D8A58A88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8CE9B-F4AB-E282-7B5F-1BAA8AF6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D943-9FB5-9540-940E-75CE5652F368}" type="datetime1">
              <a:rPr lang="de-DE" smtClean="0"/>
              <a:t>09.04.26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EDD27-F2BF-A4D7-5E79-DF97630F6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44BF0-E5D9-95ED-CAE8-085E7B3B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473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E354-FD40-FB84-F93C-430498C9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EFADD-8A98-B564-4606-1B86B3209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1A78-AE05-1539-977D-14C2F11D5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1C2EA-91AD-37BA-A5CD-B28F388AF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78022-B4A1-2540-5890-6D92713CE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F72792-3ADA-54F3-F9F9-9B330CA1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1AFC-B1DC-9147-B5C0-53EB3E6AE359}" type="datetime1">
              <a:rPr lang="de-DE" smtClean="0"/>
              <a:t>09.04.26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28E26-4759-C878-8DB9-29411740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5A686-1080-5D67-9D9C-3923A6B2A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9097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3F66C-2F77-EB3D-4CB6-A0AC020D3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52578-7CE1-6229-4684-3DFC36D0B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5B40-82D3-A149-8583-59B6157FF361}" type="datetime1">
              <a:rPr lang="de-DE" smtClean="0"/>
              <a:t>09.04.26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EA4093-22DA-76B8-1BF0-28AFFB84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A33F4-E6FD-8B11-66AD-F49A33F34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32625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78E6F-046C-85B8-73B1-0C3F9D1A2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00B7-F615-C246-BE1B-3256343D8036}" type="datetime1">
              <a:rPr lang="de-DE" smtClean="0"/>
              <a:t>09.04.26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05F66-2D81-15F8-C694-484D47B9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3C7CA-3113-B6BD-A742-7223A70D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91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FDF9-AEA7-B0D1-4E66-D2CE02BE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992D6-F5EE-1791-5387-8E62DCE18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A30C6-FEE3-EC02-F189-B84D8F29C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74191-57A5-29A5-04C7-FE0C0D5D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A028-3032-C44A-A403-38E3E0C919E1}" type="datetime1">
              <a:rPr lang="de-DE" smtClean="0"/>
              <a:t>09.04.26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0C0EF-B1F8-5F4B-429E-B85F0EC7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32FFC-7BBA-9849-49E3-AECF2C57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18783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C1CC-6F41-044A-369C-749902F8C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91B9EB-22FD-BB53-E891-D9721BD9D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B0989-9AD8-1B11-965C-729685B62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4DA3D-1F7B-6F62-138F-6CAFD8E5F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D08-A92A-F54C-A95B-3C2686121304}" type="datetime1">
              <a:rPr lang="de-DE" smtClean="0"/>
              <a:t>09.04.26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48591-590F-123A-C775-5EADCDC6E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36D6F-8C76-7733-C130-D0F4A995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696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4608-7D7E-13AB-8B1F-52B2599E7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E44CB-26A1-0519-8E22-B1021822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E2567-DBA3-1725-E34C-796D6509B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B2F5-94C4-6345-BB5F-3F7CE6C4ACA7}" type="datetime1">
              <a:rPr lang="de-DE" smtClean="0"/>
              <a:t>09.04.26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D82AA-E15D-DA55-CC48-695DA585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A3423-9632-649D-A176-4CC8ADAC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0625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2F1000-5575-32E4-F5EA-3C0AC207D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43FDF-05E4-DF27-7C42-77D8FFEB6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A7AA-550F-D336-A751-C88426FB6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3413-0DBD-B94A-B6FB-19BC1B7A78E8}" type="datetime1">
              <a:rPr lang="de-DE" smtClean="0"/>
              <a:t>09.04.26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F37C0-551A-B454-4C9B-4219457E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12702-914F-8624-B062-7A38CCDA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5583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FEF0F-EF68-98CE-29F0-C2D26074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BE8-ED40-E01B-B8AD-EB0747C2A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92E96-C6CD-B5C9-835E-B223F2B6E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C0C8D-0A11-4E4D-A3D2-C0370900281C}" type="datetime1">
              <a:rPr lang="de-DE" smtClean="0"/>
              <a:t>09.04.26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A48BD-B29F-7FE7-7D71-2A8223E88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5340D-B715-9E1F-40D1-6B8FAFC3D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ED2DE1-8A5A-A14A-9775-149952CB6A5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1009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65A648-0421-888D-C259-089BC47E42AB}"/>
              </a:ext>
            </a:extLst>
          </p:cNvPr>
          <p:cNvSpPr txBox="1"/>
          <p:nvPr/>
        </p:nvSpPr>
        <p:spPr>
          <a:xfrm>
            <a:off x="919216" y="3429000"/>
            <a:ext cx="8317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200" b="1" dirty="0">
                <a:latin typeface="DM Sans 9pt" pitchFamily="2" charset="77"/>
              </a:rPr>
              <a:t>This is </a:t>
            </a:r>
            <a:r>
              <a:rPr lang="en-DE" sz="7200" b="1" dirty="0">
                <a:solidFill>
                  <a:srgbClr val="0000FF"/>
                </a:solidFill>
                <a:latin typeface="DM Sans 9pt" pitchFamily="2" charset="77"/>
              </a:rPr>
              <a:t>Marco</a:t>
            </a:r>
            <a:r>
              <a:rPr lang="en-DE" sz="7200" b="1" dirty="0">
                <a:latin typeface="DM Sans 9pt" pitchFamily="2" charset="77"/>
              </a:rPr>
              <a:t>…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99DF2A-5CA2-FDF7-5190-2994955A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1378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DB267-CC60-CF14-9AA0-0219822C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71277F-BF86-2A0D-C607-54061BD55ED2}"/>
              </a:ext>
            </a:extLst>
          </p:cNvPr>
          <p:cNvSpPr txBox="1"/>
          <p:nvPr/>
        </p:nvSpPr>
        <p:spPr>
          <a:xfrm>
            <a:off x="851482" y="3022600"/>
            <a:ext cx="83177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200" b="1" dirty="0">
                <a:latin typeface="DM Sans 9pt" pitchFamily="2" charset="77"/>
              </a:rPr>
              <a:t>He </a:t>
            </a:r>
            <a:r>
              <a:rPr lang="en-DE" sz="7200" b="1" dirty="0">
                <a:solidFill>
                  <a:srgbClr val="0000FF"/>
                </a:solidFill>
                <a:latin typeface="DM Sans 9pt" pitchFamily="2" charset="77"/>
              </a:rPr>
              <a:t>sells</a:t>
            </a:r>
            <a:r>
              <a:rPr lang="en-DE" sz="7200" b="1" dirty="0">
                <a:latin typeface="DM Sans 9pt" pitchFamily="2" charset="77"/>
              </a:rPr>
              <a:t> </a:t>
            </a:r>
          </a:p>
          <a:p>
            <a:r>
              <a:rPr lang="en-DE" sz="7200" b="1" dirty="0">
                <a:latin typeface="DM Sans 9pt" pitchFamily="2" charset="77"/>
              </a:rPr>
              <a:t>PV-systems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88772-C7FF-DB5B-9E40-473B6A748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3557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7CD3C-6012-0BE2-6228-66DE40F6E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32DE06-C462-389B-F697-D7E4EE687234}"/>
              </a:ext>
            </a:extLst>
          </p:cNvPr>
          <p:cNvSpPr txBox="1"/>
          <p:nvPr/>
        </p:nvSpPr>
        <p:spPr>
          <a:xfrm>
            <a:off x="955870" y="2658817"/>
            <a:ext cx="83177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latin typeface="DM Sans 9pt" pitchFamily="2" charset="77"/>
              </a:rPr>
              <a:t>Marco drives </a:t>
            </a:r>
          </a:p>
          <a:p>
            <a:r>
              <a:rPr lang="en-GB" sz="6000" b="1" dirty="0">
                <a:solidFill>
                  <a:srgbClr val="0000FF"/>
                </a:solidFill>
                <a:effectLst/>
                <a:latin typeface="DM Sans 9pt" pitchFamily="2" charset="77"/>
              </a:rPr>
              <a:t>two hours</a:t>
            </a:r>
            <a:r>
              <a:rPr lang="en-GB" sz="6000" b="1" dirty="0">
                <a:latin typeface="DM Sans 9pt" pitchFamily="2" charset="77"/>
              </a:rPr>
              <a:t> to his </a:t>
            </a:r>
          </a:p>
          <a:p>
            <a:r>
              <a:rPr lang="en-GB" sz="6000" b="1" dirty="0">
                <a:latin typeface="DM Sans 9pt" pitchFamily="2" charset="77"/>
              </a:rPr>
              <a:t>next customer!</a:t>
            </a:r>
          </a:p>
        </p:txBody>
      </p: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26CB05C7-192C-6022-82E1-245EC73FDA4E}"/>
              </a:ext>
            </a:extLst>
          </p:cNvPr>
          <p:cNvCxnSpPr>
            <a:cxnSpLocks/>
          </p:cNvCxnSpPr>
          <p:nvPr/>
        </p:nvCxnSpPr>
        <p:spPr>
          <a:xfrm>
            <a:off x="2685143" y="1420118"/>
            <a:ext cx="7693297" cy="3776722"/>
          </a:xfrm>
          <a:prstGeom prst="curvedConnector3">
            <a:avLst>
              <a:gd name="adj1" fmla="val 62075"/>
            </a:avLst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1A3CF019-2A57-652E-D477-4CD7C1663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6873" y="4739640"/>
            <a:ext cx="914400" cy="914400"/>
          </a:xfrm>
          <a:prstGeom prst="rect">
            <a:avLst/>
          </a:prstGeom>
        </p:spPr>
      </p:pic>
      <p:pic>
        <p:nvPicPr>
          <p:cNvPr id="10" name="Graphic 9" descr="User with solid fill">
            <a:extLst>
              <a:ext uri="{FF2B5EF4-FFF2-40B4-BE49-F238E27FC236}">
                <a16:creationId xmlns:a16="http://schemas.microsoft.com/office/drawing/2014/main" id="{592A82C3-E112-6F83-D6D6-E69388AB7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8125" y="962918"/>
            <a:ext cx="914400" cy="914400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7EC7A4B-6213-4541-06F8-1C12801B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779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D3584-1240-34DF-E1C9-B112F6517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115046-D25B-AB13-F37A-863D08FD08DD}"/>
              </a:ext>
            </a:extLst>
          </p:cNvPr>
          <p:cNvSpPr txBox="1"/>
          <p:nvPr/>
        </p:nvSpPr>
        <p:spPr>
          <a:xfrm>
            <a:off x="405363" y="2930192"/>
            <a:ext cx="113812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latin typeface="DM Sans 9pt" pitchFamily="2" charset="77"/>
              </a:rPr>
              <a:t>But Marco</a:t>
            </a:r>
          </a:p>
          <a:p>
            <a:r>
              <a:rPr lang="en-GB" sz="6000" b="1" dirty="0">
                <a:latin typeface="DM Sans 9pt" pitchFamily="2" charset="77"/>
              </a:rPr>
              <a:t>only</a:t>
            </a:r>
            <a:r>
              <a:rPr lang="en-GB" sz="6000" b="1" dirty="0">
                <a:solidFill>
                  <a:srgbClr val="0000FF"/>
                </a:solidFill>
                <a:latin typeface="DM Sans 9pt" pitchFamily="2" charset="77"/>
              </a:rPr>
              <a:t> </a:t>
            </a:r>
            <a:r>
              <a:rPr lang="en-GB" sz="6000" b="1" dirty="0">
                <a:latin typeface="DM Sans 9pt" pitchFamily="2" charset="77"/>
              </a:rPr>
              <a:t>knows</a:t>
            </a:r>
            <a:r>
              <a:rPr lang="en-GB" sz="6000" b="1" dirty="0">
                <a:solidFill>
                  <a:srgbClr val="0000FF"/>
                </a:solidFill>
                <a:latin typeface="DM Sans 9pt" pitchFamily="2" charset="77"/>
              </a:rPr>
              <a:t> name and address </a:t>
            </a:r>
            <a:r>
              <a:rPr lang="en-GB" sz="6000" b="1" dirty="0">
                <a:latin typeface="DM Sans 9pt" pitchFamily="2" charset="77"/>
              </a:rPr>
              <a:t>of his next customer…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F1236A-FAA6-2651-C0F9-7EDF8C97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6413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1AC10-DAF9-CFD5-078C-889186D0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utput (1)">
            <a:hlinkClick r:id="" action="ppaction://media"/>
            <a:extLst>
              <a:ext uri="{FF2B5EF4-FFF2-40B4-BE49-F238E27FC236}">
                <a16:creationId xmlns:a16="http://schemas.microsoft.com/office/drawing/2014/main" id="{A6585D69-AC4D-C631-B5F0-F323D006429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50" y="7938"/>
            <a:ext cx="12192000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09036-860B-8617-8446-8511E9A6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413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98485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6A265-EE7C-679F-E873-10BE5F77D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Hourglass 90% with solid fill">
            <a:extLst>
              <a:ext uri="{FF2B5EF4-FFF2-40B4-BE49-F238E27FC236}">
                <a16:creationId xmlns:a16="http://schemas.microsoft.com/office/drawing/2014/main" id="{1655589A-C065-7911-29BF-77A05228A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959" y="2438505"/>
            <a:ext cx="962867" cy="962867"/>
          </a:xfrm>
          <a:prstGeom prst="rect">
            <a:avLst/>
          </a:prstGeom>
        </p:spPr>
      </p:pic>
      <p:pic>
        <p:nvPicPr>
          <p:cNvPr id="12" name="Graphic 11" descr="Bar chart with solid fill">
            <a:extLst>
              <a:ext uri="{FF2B5EF4-FFF2-40B4-BE49-F238E27FC236}">
                <a16:creationId xmlns:a16="http://schemas.microsoft.com/office/drawing/2014/main" id="{8B0D8351-EE58-B9D6-FB9C-6894874301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118" y="2466133"/>
            <a:ext cx="962867" cy="9628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D10BDC-0891-65DF-CAB9-7B095BF98C83}"/>
              </a:ext>
            </a:extLst>
          </p:cNvPr>
          <p:cNvSpPr txBox="1"/>
          <p:nvPr/>
        </p:nvSpPr>
        <p:spPr>
          <a:xfrm>
            <a:off x="4705958" y="3472868"/>
            <a:ext cx="37108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600" b="1" dirty="0">
                <a:latin typeface="DM Sans 9pt" pitchFamily="2" charset="77"/>
              </a:rPr>
              <a:t>decreases </a:t>
            </a:r>
          </a:p>
          <a:p>
            <a:r>
              <a:rPr lang="en-DE" sz="3600" b="1" dirty="0">
                <a:latin typeface="DM Sans 9pt" pitchFamily="2" charset="77"/>
              </a:rPr>
              <a:t>time for </a:t>
            </a:r>
          </a:p>
          <a:p>
            <a:r>
              <a:rPr lang="en-DE" sz="3600" b="1" dirty="0">
                <a:latin typeface="DM Sans 9pt" pitchFamily="2" charset="77"/>
              </a:rPr>
              <a:t>sale cycles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F314C5-DDF7-9BC3-2D8C-A6BB7D29A793}"/>
              </a:ext>
            </a:extLst>
          </p:cNvPr>
          <p:cNvSpPr txBox="1"/>
          <p:nvPr/>
        </p:nvSpPr>
        <p:spPr>
          <a:xfrm>
            <a:off x="995117" y="3472868"/>
            <a:ext cx="37108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600" b="1" dirty="0">
                <a:latin typeface="DM Sans 9pt" pitchFamily="2" charset="77"/>
              </a:rPr>
              <a:t>delivers </a:t>
            </a:r>
          </a:p>
          <a:p>
            <a:r>
              <a:rPr lang="en-DE" sz="3600" b="1" dirty="0">
                <a:latin typeface="DM Sans 9pt" pitchFamily="2" charset="77"/>
              </a:rPr>
              <a:t>customised information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5DF83B-3831-715A-7FA1-1E4EFB9BEB19}"/>
              </a:ext>
            </a:extLst>
          </p:cNvPr>
          <p:cNvCxnSpPr>
            <a:cxnSpLocks/>
          </p:cNvCxnSpPr>
          <p:nvPr/>
        </p:nvCxnSpPr>
        <p:spPr>
          <a:xfrm>
            <a:off x="4210223" y="1994651"/>
            <a:ext cx="0" cy="3368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FBAB9EA-54B1-13E2-8E15-8BCD361E113D}"/>
              </a:ext>
            </a:extLst>
          </p:cNvPr>
          <p:cNvCxnSpPr>
            <a:cxnSpLocks/>
          </p:cNvCxnSpPr>
          <p:nvPr/>
        </p:nvCxnSpPr>
        <p:spPr>
          <a:xfrm>
            <a:off x="7863813" y="1994651"/>
            <a:ext cx="0" cy="3368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Rating 3 Star with solid fill">
            <a:extLst>
              <a:ext uri="{FF2B5EF4-FFF2-40B4-BE49-F238E27FC236}">
                <a16:creationId xmlns:a16="http://schemas.microsoft.com/office/drawing/2014/main" id="{7B4DCA71-6979-3CDE-5AE9-843090D775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6665" y="2338589"/>
            <a:ext cx="1217953" cy="121795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74E851-2717-414B-53DB-DDF73ACA5D82}"/>
              </a:ext>
            </a:extLst>
          </p:cNvPr>
          <p:cNvSpPr txBox="1"/>
          <p:nvPr/>
        </p:nvSpPr>
        <p:spPr>
          <a:xfrm>
            <a:off x="8359547" y="3472868"/>
            <a:ext cx="37108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600" b="1" dirty="0">
                <a:latin typeface="DM Sans 9pt" pitchFamily="2" charset="77"/>
              </a:rPr>
              <a:t>increases</a:t>
            </a:r>
          </a:p>
          <a:p>
            <a:r>
              <a:rPr lang="en-GB" sz="3600" b="1" dirty="0">
                <a:latin typeface="DM Sans 9pt" pitchFamily="2" charset="77"/>
              </a:rPr>
              <a:t>a</a:t>
            </a:r>
            <a:r>
              <a:rPr lang="en-DE" sz="3600" b="1" dirty="0">
                <a:latin typeface="DM Sans 9pt" pitchFamily="2" charset="77"/>
              </a:rPr>
              <a:t>cceptance</a:t>
            </a:r>
          </a:p>
          <a:p>
            <a:r>
              <a:rPr lang="en-GB" sz="3600" b="1" dirty="0">
                <a:latin typeface="DM Sans 9pt" pitchFamily="2" charset="77"/>
              </a:rPr>
              <a:t>r</a:t>
            </a:r>
            <a:r>
              <a:rPr lang="en-DE" sz="3600" b="1" dirty="0">
                <a:latin typeface="DM Sans 9pt" pitchFamily="2" charset="77"/>
              </a:rPr>
              <a:t>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15E5D1-FE41-8FF3-BA88-279D0DA59A62}"/>
              </a:ext>
            </a:extLst>
          </p:cNvPr>
          <p:cNvSpPr txBox="1"/>
          <p:nvPr/>
        </p:nvSpPr>
        <p:spPr>
          <a:xfrm>
            <a:off x="995117" y="908802"/>
            <a:ext cx="37108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800" b="1" dirty="0">
                <a:solidFill>
                  <a:srgbClr val="0000FF"/>
                </a:solidFill>
                <a:latin typeface="DM Sans 9pt" pitchFamily="2" charset="77"/>
              </a:rPr>
              <a:t>Minerva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17E9E38F-E4F6-DE7F-D6F1-EFEE1E62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4176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6ADCD-86FE-AC15-0608-8107A8F96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E99A0D-1F08-4387-37BB-C250161F3EFE}"/>
              </a:ext>
            </a:extLst>
          </p:cNvPr>
          <p:cNvSpPr txBox="1"/>
          <p:nvPr/>
        </p:nvSpPr>
        <p:spPr>
          <a:xfrm>
            <a:off x="982122" y="3806372"/>
            <a:ext cx="10227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200" b="1" dirty="0">
                <a:latin typeface="DM Sans 9pt" pitchFamily="2" charset="77"/>
              </a:rPr>
              <a:t>Now, back to </a:t>
            </a:r>
            <a:r>
              <a:rPr lang="en-DE" sz="7200" b="1" dirty="0">
                <a:solidFill>
                  <a:srgbClr val="0000FF"/>
                </a:solidFill>
                <a:latin typeface="DM Sans 9pt" pitchFamily="2" charset="77"/>
              </a:rPr>
              <a:t>Marco</a:t>
            </a:r>
            <a:r>
              <a:rPr lang="en-DE" sz="7200" b="1" dirty="0">
                <a:latin typeface="DM Sans 9pt" pitchFamily="2" charset="77"/>
              </a:rPr>
              <a:t>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6A9AB-B287-A7D9-F317-982F3387C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3066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0AEE6-40FF-7DAD-8DEC-04CBB4D5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7E56F1-BC5E-FDE8-A79A-8327E0241228}"/>
              </a:ext>
            </a:extLst>
          </p:cNvPr>
          <p:cNvSpPr txBox="1"/>
          <p:nvPr/>
        </p:nvSpPr>
        <p:spPr>
          <a:xfrm>
            <a:off x="0" y="310583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3600" b="1" dirty="0">
                <a:latin typeface="DM Sans 9pt" pitchFamily="2" charset="77"/>
              </a:rPr>
              <a:t>Minerva provides Marco with context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DE6681-8086-CB47-7C2F-C575A409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62962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C0FA0-2007-AEBA-E953-45D4B28C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BEAC6F-9228-24FF-FEF9-A5F3319B5FAD}"/>
              </a:ext>
            </a:extLst>
          </p:cNvPr>
          <p:cNvSpPr txBox="1"/>
          <p:nvPr/>
        </p:nvSpPr>
        <p:spPr>
          <a:xfrm>
            <a:off x="919216" y="3429000"/>
            <a:ext cx="101551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200" b="1" dirty="0">
                <a:latin typeface="DM Sans 9pt" pitchFamily="2" charset="77"/>
              </a:rPr>
              <a:t>How does this </a:t>
            </a:r>
            <a:r>
              <a:rPr lang="en-DE" sz="7200" b="1" dirty="0">
                <a:solidFill>
                  <a:srgbClr val="0000FF"/>
                </a:solidFill>
                <a:latin typeface="DM Sans 9pt" pitchFamily="2" charset="77"/>
              </a:rPr>
              <a:t>work</a:t>
            </a:r>
            <a:r>
              <a:rPr lang="en-DE" sz="7200" b="1" dirty="0">
                <a:latin typeface="DM Sans 9pt" pitchFamily="2" charset="77"/>
              </a:rPr>
              <a:t>?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2A6ECD-A688-199B-0AC3-D726426F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21446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D24A0-C667-ED7F-4B16-EC85FF79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832065A-1ACD-F8F3-3032-E872EA4F3444}"/>
              </a:ext>
            </a:extLst>
          </p:cNvPr>
          <p:cNvSpPr/>
          <p:nvPr/>
        </p:nvSpPr>
        <p:spPr>
          <a:xfrm>
            <a:off x="1070311" y="1647955"/>
            <a:ext cx="2567180" cy="1551068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Lead </a:t>
            </a:r>
          </a:p>
          <a:p>
            <a:r>
              <a:rPr lang="en-DE" sz="2400" b="1" dirty="0">
                <a:latin typeface="DM Sans 9pt" pitchFamily="2" charset="77"/>
              </a:rPr>
              <a:t>incoming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1CF5020-0A11-95D4-94BB-A976F628A87E}"/>
              </a:ext>
            </a:extLst>
          </p:cNvPr>
          <p:cNvSpPr/>
          <p:nvPr/>
        </p:nvSpPr>
        <p:spPr>
          <a:xfrm>
            <a:off x="4693318" y="1647955"/>
            <a:ext cx="2567180" cy="1551068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Client</a:t>
            </a:r>
          </a:p>
          <a:p>
            <a:r>
              <a:rPr lang="en-DE" sz="2400" b="1" dirty="0">
                <a:latin typeface="DM Sans 9pt" pitchFamily="2" charset="77"/>
              </a:rPr>
              <a:t>Information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4687CE9-030C-2790-E9CA-FB5EE51E4238}"/>
              </a:ext>
            </a:extLst>
          </p:cNvPr>
          <p:cNvCxnSpPr>
            <a:cxnSpLocks/>
          </p:cNvCxnSpPr>
          <p:nvPr/>
        </p:nvCxnSpPr>
        <p:spPr>
          <a:xfrm>
            <a:off x="3777631" y="2423489"/>
            <a:ext cx="7944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E94685E-2677-B02C-1F44-6B45FD06E373}"/>
              </a:ext>
            </a:extLst>
          </p:cNvPr>
          <p:cNvSpPr/>
          <p:nvPr/>
        </p:nvSpPr>
        <p:spPr>
          <a:xfrm>
            <a:off x="8381716" y="1647955"/>
            <a:ext cx="2567180" cy="1551068"/>
          </a:xfrm>
          <a:prstGeom prst="roundRect">
            <a:avLst/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Minerva </a:t>
            </a:r>
          </a:p>
          <a:p>
            <a:r>
              <a:rPr lang="en-DE" sz="2400" b="1" dirty="0">
                <a:latin typeface="DM Sans 9pt" pitchFamily="2" charset="77"/>
              </a:rPr>
              <a:t>Research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275D83-2A04-2CAC-5A0E-16450F3851C5}"/>
              </a:ext>
            </a:extLst>
          </p:cNvPr>
          <p:cNvCxnSpPr>
            <a:cxnSpLocks/>
          </p:cNvCxnSpPr>
          <p:nvPr/>
        </p:nvCxnSpPr>
        <p:spPr>
          <a:xfrm>
            <a:off x="7413459" y="2423489"/>
            <a:ext cx="7944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3350D46-33A7-AF55-0E82-77FF120ABDB5}"/>
              </a:ext>
            </a:extLst>
          </p:cNvPr>
          <p:cNvSpPr txBox="1"/>
          <p:nvPr/>
        </p:nvSpPr>
        <p:spPr>
          <a:xfrm>
            <a:off x="1018408" y="725557"/>
            <a:ext cx="4574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latin typeface="DM Sans 9pt" pitchFamily="2" charset="77"/>
              </a:rPr>
              <a:t>The Minerva workflow</a:t>
            </a: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81A932AA-EE16-8B7C-65C1-35434644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2253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3DA11-996A-9439-D004-4E4D6D6E4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8201A5-2B76-9BEC-DE3E-6AE543FBF282}"/>
              </a:ext>
            </a:extLst>
          </p:cNvPr>
          <p:cNvSpPr txBox="1"/>
          <p:nvPr/>
        </p:nvSpPr>
        <p:spPr>
          <a:xfrm>
            <a:off x="5158215" y="1230345"/>
            <a:ext cx="9172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b="1" dirty="0">
                <a:solidFill>
                  <a:srgbClr val="0000FF"/>
                </a:solidFill>
                <a:latin typeface="DM Sans 9pt" pitchFamily="2" charset="77"/>
              </a:rPr>
              <a:t>RAG</a:t>
            </a:r>
            <a:endParaRPr lang="en-DE" sz="2800" b="1" baseline="-25000" dirty="0">
              <a:solidFill>
                <a:srgbClr val="0000FF"/>
              </a:solidFill>
              <a:latin typeface="DM Sans 9p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630B8-C1F5-203C-772E-C6A343BD62D7}"/>
              </a:ext>
            </a:extLst>
          </p:cNvPr>
          <p:cNvSpPr txBox="1"/>
          <p:nvPr/>
        </p:nvSpPr>
        <p:spPr>
          <a:xfrm>
            <a:off x="5158215" y="1753565"/>
            <a:ext cx="18582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DM Sans 9pt" pitchFamily="2" charset="77"/>
              </a:rPr>
              <a:t>R</a:t>
            </a:r>
            <a:r>
              <a:rPr lang="en-DE" sz="1400" b="1" dirty="0">
                <a:solidFill>
                  <a:srgbClr val="0000FF"/>
                </a:solidFill>
                <a:latin typeface="DM Sans 9pt" pitchFamily="2" charset="77"/>
              </a:rPr>
              <a:t>etrieve and return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EB6FDF2-7A74-E3BB-57D4-C8D9866A69DB}"/>
              </a:ext>
            </a:extLst>
          </p:cNvPr>
          <p:cNvSpPr/>
          <p:nvPr/>
        </p:nvSpPr>
        <p:spPr>
          <a:xfrm>
            <a:off x="5175584" y="2276785"/>
            <a:ext cx="1840832" cy="517358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solidFill>
                  <a:schemeClr val="bg1"/>
                </a:solidFill>
                <a:latin typeface="DM Sans 9pt" pitchFamily="2" charset="77"/>
              </a:rPr>
              <a:t>Question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ECDAFF-F931-3C1E-975B-57AED0F27018}"/>
              </a:ext>
            </a:extLst>
          </p:cNvPr>
          <p:cNvSpPr/>
          <p:nvPr/>
        </p:nvSpPr>
        <p:spPr>
          <a:xfrm>
            <a:off x="5175584" y="3383536"/>
            <a:ext cx="1840832" cy="517358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solidFill>
                  <a:schemeClr val="bg1"/>
                </a:solidFill>
                <a:latin typeface="DM Sans 9pt" pitchFamily="2" charset="77"/>
              </a:rPr>
              <a:t>Retrieve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35672A9-7EBE-691D-918D-82BCF2810E8D}"/>
              </a:ext>
            </a:extLst>
          </p:cNvPr>
          <p:cNvSpPr/>
          <p:nvPr/>
        </p:nvSpPr>
        <p:spPr>
          <a:xfrm>
            <a:off x="5175584" y="4490287"/>
            <a:ext cx="1840832" cy="517358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solidFill>
                  <a:schemeClr val="bg1"/>
                </a:solidFill>
                <a:latin typeface="DM Sans 9pt" pitchFamily="2" charset="77"/>
              </a:rPr>
              <a:t>Retrieve more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BD979A0-EDF7-93A1-24C3-CC4AD94857EE}"/>
              </a:ext>
            </a:extLst>
          </p:cNvPr>
          <p:cNvSpPr/>
          <p:nvPr/>
        </p:nvSpPr>
        <p:spPr>
          <a:xfrm>
            <a:off x="5175584" y="5597038"/>
            <a:ext cx="1840832" cy="517358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solidFill>
                  <a:schemeClr val="bg1"/>
                </a:solidFill>
                <a:latin typeface="DM Sans 9pt" pitchFamily="2" charset="77"/>
              </a:rPr>
              <a:t>40% customisation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367415-7FED-5EB7-34DA-2A303B594BE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96000" y="2794143"/>
            <a:ext cx="0" cy="589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!!Straight Arrow Connector 12">
            <a:extLst>
              <a:ext uri="{FF2B5EF4-FFF2-40B4-BE49-F238E27FC236}">
                <a16:creationId xmlns:a16="http://schemas.microsoft.com/office/drawing/2014/main" id="{53E0715F-F024-DC16-0100-CFF0184BA17F}"/>
              </a:ext>
            </a:extLst>
          </p:cNvPr>
          <p:cNvCxnSpPr>
            <a:cxnSpLocks/>
          </p:cNvCxnSpPr>
          <p:nvPr/>
        </p:nvCxnSpPr>
        <p:spPr>
          <a:xfrm>
            <a:off x="6113496" y="3900894"/>
            <a:ext cx="0" cy="589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4597DA-5E4D-293A-8D61-FF3FF270496F}"/>
              </a:ext>
            </a:extLst>
          </p:cNvPr>
          <p:cNvCxnSpPr>
            <a:cxnSpLocks/>
          </p:cNvCxnSpPr>
          <p:nvPr/>
        </p:nvCxnSpPr>
        <p:spPr>
          <a:xfrm>
            <a:off x="6130992" y="5007645"/>
            <a:ext cx="0" cy="589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82EFF02-E7F9-9B29-2F90-FED068D01BA2}"/>
              </a:ext>
            </a:extLst>
          </p:cNvPr>
          <p:cNvSpPr txBox="1"/>
          <p:nvPr/>
        </p:nvSpPr>
        <p:spPr>
          <a:xfrm>
            <a:off x="563085" y="362283"/>
            <a:ext cx="4574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latin typeface="DM Sans 9pt" pitchFamily="2" charset="77"/>
              </a:rPr>
              <a:t>Minerva Research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6710551-DF6C-B3B8-D7F3-0AC47D69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11</a:t>
            </a:fld>
            <a:endParaRPr lang="en-D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308844-8A23-F8A0-347A-05E75778982E}"/>
              </a:ext>
            </a:extLst>
          </p:cNvPr>
          <p:cNvSpPr txBox="1"/>
          <p:nvPr/>
        </p:nvSpPr>
        <p:spPr>
          <a:xfrm>
            <a:off x="563085" y="6438884"/>
            <a:ext cx="19591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0000FF"/>
                </a:solidFill>
                <a:latin typeface="DM Sans 9pt" pitchFamily="2" charset="77"/>
              </a:rPr>
              <a:t>1 = Retrieval </a:t>
            </a:r>
            <a:r>
              <a:rPr lang="de-DE" sz="800" b="1" dirty="0" err="1">
                <a:solidFill>
                  <a:srgbClr val="0000FF"/>
                </a:solidFill>
                <a:latin typeface="DM Sans 9pt" pitchFamily="2" charset="77"/>
              </a:rPr>
              <a:t>Augmented</a:t>
            </a:r>
            <a:r>
              <a:rPr lang="de-DE" sz="800" b="1" dirty="0">
                <a:solidFill>
                  <a:srgbClr val="0000FF"/>
                </a:solidFill>
                <a:latin typeface="DM Sans 9pt" pitchFamily="2" charset="77"/>
              </a:rPr>
              <a:t> Generation</a:t>
            </a:r>
            <a:endParaRPr lang="en-DE" sz="800" b="1" dirty="0">
              <a:solidFill>
                <a:srgbClr val="0000FF"/>
              </a:solidFill>
              <a:latin typeface="DM Sans 9pt" pitchFamily="2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404975-3D1D-5B07-967D-E88643FC11AC}"/>
              </a:ext>
            </a:extLst>
          </p:cNvPr>
          <p:cNvSpPr txBox="1"/>
          <p:nvPr/>
        </p:nvSpPr>
        <p:spPr>
          <a:xfrm>
            <a:off x="5922446" y="1353456"/>
            <a:ext cx="240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800" b="1" baseline="-25000" dirty="0">
                <a:solidFill>
                  <a:srgbClr val="0000FF"/>
                </a:solidFill>
                <a:latin typeface="DM Sans 9pt" pitchFamily="2" charset="77"/>
              </a:rPr>
              <a:t>1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4971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249F0-8BA1-20BE-E685-DFBC54780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DAEBF4-BEE7-21D8-54E2-026FDD0569EF}"/>
              </a:ext>
            </a:extLst>
          </p:cNvPr>
          <p:cNvSpPr txBox="1"/>
          <p:nvPr/>
        </p:nvSpPr>
        <p:spPr>
          <a:xfrm>
            <a:off x="545716" y="1280449"/>
            <a:ext cx="9172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b="1" dirty="0">
                <a:solidFill>
                  <a:schemeClr val="bg1">
                    <a:lumMod val="65000"/>
                  </a:schemeClr>
                </a:solidFill>
                <a:latin typeface="DM Sans 9pt" pitchFamily="2" charset="77"/>
              </a:rPr>
              <a:t>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55B99-8631-6C97-599A-A66A062154BB}"/>
              </a:ext>
            </a:extLst>
          </p:cNvPr>
          <p:cNvSpPr txBox="1"/>
          <p:nvPr/>
        </p:nvSpPr>
        <p:spPr>
          <a:xfrm>
            <a:off x="545716" y="1803669"/>
            <a:ext cx="18582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>
                    <a:lumMod val="65000"/>
                  </a:schemeClr>
                </a:solidFill>
                <a:latin typeface="DM Sans 9pt" pitchFamily="2" charset="77"/>
              </a:rPr>
              <a:t>R</a:t>
            </a:r>
            <a:r>
              <a:rPr lang="en-DE" sz="1400" b="1" dirty="0">
                <a:solidFill>
                  <a:schemeClr val="bg1">
                    <a:lumMod val="65000"/>
                  </a:schemeClr>
                </a:solidFill>
                <a:latin typeface="DM Sans 9pt" pitchFamily="2" charset="77"/>
              </a:rPr>
              <a:t>etrieve and return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A781B8C-DD43-2344-F819-C033C890D4A2}"/>
              </a:ext>
            </a:extLst>
          </p:cNvPr>
          <p:cNvSpPr/>
          <p:nvPr/>
        </p:nvSpPr>
        <p:spPr>
          <a:xfrm>
            <a:off x="563085" y="2326889"/>
            <a:ext cx="1840832" cy="51735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solidFill>
                  <a:schemeClr val="tx1"/>
                </a:solidFill>
                <a:latin typeface="DM Sans 9pt" pitchFamily="2" charset="77"/>
              </a:rPr>
              <a:t>Question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D923BF-49F8-BC2B-48C3-3950C2F6C7AC}"/>
              </a:ext>
            </a:extLst>
          </p:cNvPr>
          <p:cNvSpPr/>
          <p:nvPr/>
        </p:nvSpPr>
        <p:spPr>
          <a:xfrm>
            <a:off x="563085" y="3433640"/>
            <a:ext cx="1840832" cy="51735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solidFill>
                  <a:schemeClr val="tx1"/>
                </a:solidFill>
                <a:latin typeface="DM Sans 9pt" pitchFamily="2" charset="77"/>
              </a:rPr>
              <a:t>Retrieve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2959B87-5EB2-F154-6F72-B3EA2F7164F1}"/>
              </a:ext>
            </a:extLst>
          </p:cNvPr>
          <p:cNvSpPr/>
          <p:nvPr/>
        </p:nvSpPr>
        <p:spPr>
          <a:xfrm>
            <a:off x="563085" y="4540391"/>
            <a:ext cx="1840832" cy="51735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solidFill>
                  <a:schemeClr val="tx1"/>
                </a:solidFill>
                <a:latin typeface="DM Sans 9pt" pitchFamily="2" charset="77"/>
              </a:rPr>
              <a:t>Retrieve more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5F00624-3C3F-BB91-597E-9E12AA7136B9}"/>
              </a:ext>
            </a:extLst>
          </p:cNvPr>
          <p:cNvSpPr/>
          <p:nvPr/>
        </p:nvSpPr>
        <p:spPr>
          <a:xfrm>
            <a:off x="563085" y="5647142"/>
            <a:ext cx="1840832" cy="51735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200" b="1" dirty="0">
                <a:solidFill>
                  <a:schemeClr val="tx1"/>
                </a:solidFill>
                <a:latin typeface="DM Sans 9pt" pitchFamily="2" charset="77"/>
              </a:rPr>
              <a:t>40% customisation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03F9CA-FDF7-9C9B-2F94-E47AA4BEC6D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483501" y="2844247"/>
            <a:ext cx="0" cy="589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!!Straight Arrow Connector 12">
            <a:extLst>
              <a:ext uri="{FF2B5EF4-FFF2-40B4-BE49-F238E27FC236}">
                <a16:creationId xmlns:a16="http://schemas.microsoft.com/office/drawing/2014/main" id="{98446F89-0B98-5E09-6ACD-2CC43D44ED37}"/>
              </a:ext>
            </a:extLst>
          </p:cNvPr>
          <p:cNvCxnSpPr>
            <a:cxnSpLocks/>
          </p:cNvCxnSpPr>
          <p:nvPr/>
        </p:nvCxnSpPr>
        <p:spPr>
          <a:xfrm>
            <a:off x="1500997" y="3950998"/>
            <a:ext cx="0" cy="589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9FE81BA-46BB-753C-CB7A-6AFB424F63F1}"/>
              </a:ext>
            </a:extLst>
          </p:cNvPr>
          <p:cNvCxnSpPr>
            <a:cxnSpLocks/>
          </p:cNvCxnSpPr>
          <p:nvPr/>
        </p:nvCxnSpPr>
        <p:spPr>
          <a:xfrm>
            <a:off x="1518493" y="5057749"/>
            <a:ext cx="0" cy="589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1DAFB2-03F3-AAE4-715A-B23047B08213}"/>
              </a:ext>
            </a:extLst>
          </p:cNvPr>
          <p:cNvCxnSpPr>
            <a:cxnSpLocks/>
          </p:cNvCxnSpPr>
          <p:nvPr/>
        </p:nvCxnSpPr>
        <p:spPr>
          <a:xfrm>
            <a:off x="2838038" y="1066734"/>
            <a:ext cx="0" cy="5403935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CB1C4EF-BA58-36A9-8F34-2E9691C4257A}"/>
              </a:ext>
            </a:extLst>
          </p:cNvPr>
          <p:cNvSpPr/>
          <p:nvPr/>
        </p:nvSpPr>
        <p:spPr>
          <a:xfrm>
            <a:off x="4690756" y="1056904"/>
            <a:ext cx="6950735" cy="174192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F6DBA6A-2A26-B5C5-7EC3-6734DC2DC9DC}"/>
              </a:ext>
            </a:extLst>
          </p:cNvPr>
          <p:cNvSpPr/>
          <p:nvPr/>
        </p:nvSpPr>
        <p:spPr>
          <a:xfrm>
            <a:off x="4690756" y="3182587"/>
            <a:ext cx="6950735" cy="14844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002A28B-4CA3-18FB-3348-DA46A137DC06}"/>
              </a:ext>
            </a:extLst>
          </p:cNvPr>
          <p:cNvSpPr/>
          <p:nvPr/>
        </p:nvSpPr>
        <p:spPr>
          <a:xfrm>
            <a:off x="4690756" y="4986605"/>
            <a:ext cx="6950735" cy="62830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pic>
        <p:nvPicPr>
          <p:cNvPr id="21" name="Graphic 20" descr="Detective male with solid fill">
            <a:extLst>
              <a:ext uri="{FF2B5EF4-FFF2-40B4-BE49-F238E27FC236}">
                <a16:creationId xmlns:a16="http://schemas.microsoft.com/office/drawing/2014/main" id="{FE660F3A-1B8C-0E52-A82B-DFB19438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1291" y="1066734"/>
            <a:ext cx="449664" cy="44966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808C585-5ABB-9C54-47A5-21DA0403E824}"/>
              </a:ext>
            </a:extLst>
          </p:cNvPr>
          <p:cNvSpPr txBox="1"/>
          <p:nvPr/>
        </p:nvSpPr>
        <p:spPr>
          <a:xfrm>
            <a:off x="7298523" y="1470758"/>
            <a:ext cx="173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latin typeface="DM Sans 9pt" pitchFamily="2" charset="77"/>
              </a:rPr>
              <a:t>Orchestration</a:t>
            </a:r>
          </a:p>
        </p:txBody>
      </p:sp>
      <p:pic>
        <p:nvPicPr>
          <p:cNvPr id="23" name="Graphic 22" descr="Detective male with solid fill">
            <a:extLst>
              <a:ext uri="{FF2B5EF4-FFF2-40B4-BE49-F238E27FC236}">
                <a16:creationId xmlns:a16="http://schemas.microsoft.com/office/drawing/2014/main" id="{97FE9170-4FC3-9CE0-2383-5CD101368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2440" y="1717944"/>
            <a:ext cx="402304" cy="40230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12EE1CA-FD56-8548-F77F-5CA83BEF7474}"/>
              </a:ext>
            </a:extLst>
          </p:cNvPr>
          <p:cNvSpPr txBox="1"/>
          <p:nvPr/>
        </p:nvSpPr>
        <p:spPr>
          <a:xfrm>
            <a:off x="5375379" y="2101699"/>
            <a:ext cx="1253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latin typeface="DM Sans 9pt" pitchFamily="2" charset="77"/>
              </a:rPr>
              <a:t>Sub Agent 1</a:t>
            </a:r>
          </a:p>
        </p:txBody>
      </p:sp>
      <p:pic>
        <p:nvPicPr>
          <p:cNvPr id="27" name="Graphic 26" descr="Detective male with solid fill">
            <a:extLst>
              <a:ext uri="{FF2B5EF4-FFF2-40B4-BE49-F238E27FC236}">
                <a16:creationId xmlns:a16="http://schemas.microsoft.com/office/drawing/2014/main" id="{B1B6ED8D-E639-3119-F4B7-1AB2B9BCE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5052" y="2020605"/>
            <a:ext cx="402304" cy="4023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00003CB-0482-4CF2-80E8-5FDEA9150B0A}"/>
              </a:ext>
            </a:extLst>
          </p:cNvPr>
          <p:cNvSpPr txBox="1"/>
          <p:nvPr/>
        </p:nvSpPr>
        <p:spPr>
          <a:xfrm>
            <a:off x="7617991" y="2404360"/>
            <a:ext cx="1253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latin typeface="DM Sans 9pt" pitchFamily="2" charset="77"/>
              </a:rPr>
              <a:t>Sub Agent 2</a:t>
            </a:r>
          </a:p>
        </p:txBody>
      </p:sp>
      <p:pic>
        <p:nvPicPr>
          <p:cNvPr id="29" name="Graphic 28" descr="Detective male with solid fill">
            <a:extLst>
              <a:ext uri="{FF2B5EF4-FFF2-40B4-BE49-F238E27FC236}">
                <a16:creationId xmlns:a16="http://schemas.microsoft.com/office/drawing/2014/main" id="{34B16996-4F93-443C-07D3-94347A2902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40170" y="1706690"/>
            <a:ext cx="402304" cy="40230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196DB24-D1DE-304B-CB2B-D57A92DFE9C2}"/>
              </a:ext>
            </a:extLst>
          </p:cNvPr>
          <p:cNvSpPr txBox="1"/>
          <p:nvPr/>
        </p:nvSpPr>
        <p:spPr>
          <a:xfrm>
            <a:off x="9763109" y="2090445"/>
            <a:ext cx="1253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latin typeface="DM Sans 9pt" pitchFamily="2" charset="77"/>
              </a:rPr>
              <a:t>Sub Agent 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EC6950A-1341-9A8C-E9E4-8F9826DAFC2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6347736" y="1624647"/>
            <a:ext cx="950787" cy="2359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43605FD-05A1-3058-2730-26817BD61249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033723" y="1624647"/>
            <a:ext cx="950787" cy="3488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!!Straight Arrow Connector 37">
            <a:extLst>
              <a:ext uri="{FF2B5EF4-FFF2-40B4-BE49-F238E27FC236}">
                <a16:creationId xmlns:a16="http://schemas.microsoft.com/office/drawing/2014/main" id="{53C4C4D5-6462-5672-DC33-2528C8D5CF02}"/>
              </a:ext>
            </a:extLst>
          </p:cNvPr>
          <p:cNvCxnSpPr>
            <a:cxnSpLocks/>
          </p:cNvCxnSpPr>
          <p:nvPr/>
        </p:nvCxnSpPr>
        <p:spPr>
          <a:xfrm>
            <a:off x="8193216" y="1778535"/>
            <a:ext cx="0" cy="1776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80714B2-84C1-F075-46FE-46DFA6D407A3}"/>
              </a:ext>
            </a:extLst>
          </p:cNvPr>
          <p:cNvSpPr txBox="1"/>
          <p:nvPr/>
        </p:nvSpPr>
        <p:spPr>
          <a:xfrm>
            <a:off x="5917692" y="4290291"/>
            <a:ext cx="1680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b="1" dirty="0">
                <a:solidFill>
                  <a:schemeClr val="bg1"/>
                </a:solidFill>
                <a:latin typeface="DM Sans 9pt" pitchFamily="2" charset="77"/>
              </a:rPr>
              <a:t>Proposal: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57F7263D-1EE4-35A9-F238-F262B71199B5}"/>
              </a:ext>
            </a:extLst>
          </p:cNvPr>
          <p:cNvSpPr/>
          <p:nvPr/>
        </p:nvSpPr>
        <p:spPr>
          <a:xfrm>
            <a:off x="4972731" y="3458197"/>
            <a:ext cx="1046701" cy="476736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Web Search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F75DBD0-C250-8735-AD90-09247CF28122}"/>
              </a:ext>
            </a:extLst>
          </p:cNvPr>
          <p:cNvSpPr/>
          <p:nvPr/>
        </p:nvSpPr>
        <p:spPr>
          <a:xfrm>
            <a:off x="5869500" y="4018213"/>
            <a:ext cx="956471" cy="441773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Satelite Data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49E1C56-F7C1-BA47-4BDF-A02F54807D65}"/>
              </a:ext>
            </a:extLst>
          </p:cNvPr>
          <p:cNvSpPr/>
          <p:nvPr/>
        </p:nvSpPr>
        <p:spPr>
          <a:xfrm>
            <a:off x="7471818" y="3901810"/>
            <a:ext cx="1162177" cy="545219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Industry Knowledge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D0D0CCB-CDA4-7CFE-A1EB-F92474E89280}"/>
              </a:ext>
            </a:extLst>
          </p:cNvPr>
          <p:cNvSpPr/>
          <p:nvPr/>
        </p:nvSpPr>
        <p:spPr>
          <a:xfrm>
            <a:off x="8536424" y="3384717"/>
            <a:ext cx="894588" cy="356818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Review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1899586-3864-76DC-9D30-BC206696CC43}"/>
              </a:ext>
            </a:extLst>
          </p:cNvPr>
          <p:cNvSpPr/>
          <p:nvPr/>
        </p:nvSpPr>
        <p:spPr>
          <a:xfrm>
            <a:off x="10195049" y="3370507"/>
            <a:ext cx="1121198" cy="564426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Pattern recognition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4875EFD-8037-497B-4566-9034DC953116}"/>
              </a:ext>
            </a:extLst>
          </p:cNvPr>
          <p:cNvSpPr/>
          <p:nvPr/>
        </p:nvSpPr>
        <p:spPr>
          <a:xfrm>
            <a:off x="6490142" y="3321967"/>
            <a:ext cx="1187915" cy="489229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</a:t>
            </a:r>
            <a:r>
              <a:rPr lang="en-DE" sz="1400" dirty="0"/>
              <a:t>ales knowledge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6D6C91B-9C7F-78C2-4CF3-0A7A6A9867BC}"/>
              </a:ext>
            </a:extLst>
          </p:cNvPr>
          <p:cNvSpPr/>
          <p:nvPr/>
        </p:nvSpPr>
        <p:spPr>
          <a:xfrm>
            <a:off x="9143609" y="3901336"/>
            <a:ext cx="894588" cy="590005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dirty="0"/>
              <a:t>Internal Data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CD5E03-A63F-1477-EABE-698D53DE4C5E}"/>
              </a:ext>
            </a:extLst>
          </p:cNvPr>
          <p:cNvSpPr txBox="1"/>
          <p:nvPr/>
        </p:nvSpPr>
        <p:spPr>
          <a:xfrm>
            <a:off x="3061079" y="1557754"/>
            <a:ext cx="1629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DM Sans 9pt" pitchFamily="2" charset="77"/>
              </a:rPr>
              <a:t>Landgraph </a:t>
            </a:r>
          </a:p>
          <a:p>
            <a:r>
              <a:rPr lang="en-DE" b="1" dirty="0">
                <a:latin typeface="DM Sans 9pt" pitchFamily="2" charset="77"/>
              </a:rPr>
              <a:t>4-Agent</a:t>
            </a:r>
          </a:p>
          <a:p>
            <a:r>
              <a:rPr lang="en-DE" b="1" dirty="0">
                <a:latin typeface="DM Sans 9pt" pitchFamily="2" charset="77"/>
              </a:rPr>
              <a:t>Architecture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7C0CA3-AC1E-BB02-D4AF-90D5A7C449EF}"/>
              </a:ext>
            </a:extLst>
          </p:cNvPr>
          <p:cNvSpPr txBox="1"/>
          <p:nvPr/>
        </p:nvSpPr>
        <p:spPr>
          <a:xfrm>
            <a:off x="3061079" y="3643960"/>
            <a:ext cx="909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b="1" dirty="0">
                <a:latin typeface="DM Sans 9pt" pitchFamily="2" charset="77"/>
              </a:rPr>
              <a:t>Agent </a:t>
            </a:r>
          </a:p>
          <a:p>
            <a:r>
              <a:rPr lang="en-DE" b="1" dirty="0">
                <a:latin typeface="DM Sans 9pt" pitchFamily="2" charset="77"/>
              </a:rPr>
              <a:t>Skills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A7FB79-55B0-BC91-FD76-96DF3227C6D9}"/>
              </a:ext>
            </a:extLst>
          </p:cNvPr>
          <p:cNvSpPr txBox="1"/>
          <p:nvPr/>
        </p:nvSpPr>
        <p:spPr>
          <a:xfrm>
            <a:off x="4684467" y="5097635"/>
            <a:ext cx="6938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400" b="1" dirty="0">
                <a:latin typeface="DM Sans 9pt" pitchFamily="2" charset="77"/>
              </a:rPr>
              <a:t>Psychological Frameworks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0514E2D0-8C81-8820-5090-CCA7A90DC7ED}"/>
              </a:ext>
            </a:extLst>
          </p:cNvPr>
          <p:cNvSpPr/>
          <p:nvPr/>
        </p:nvSpPr>
        <p:spPr>
          <a:xfrm>
            <a:off x="4690754" y="5829705"/>
            <a:ext cx="6950729" cy="5731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8725D1-B686-D1DA-99F7-2BDD381195B2}"/>
              </a:ext>
            </a:extLst>
          </p:cNvPr>
          <p:cNvSpPr txBox="1"/>
          <p:nvPr/>
        </p:nvSpPr>
        <p:spPr>
          <a:xfrm>
            <a:off x="3056075" y="5917671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b="1" dirty="0">
                <a:latin typeface="DM Sans 9pt" pitchFamily="2" charset="77"/>
              </a:rPr>
              <a:t>Output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217CAB-2AFA-049F-1C07-A4A6807589B5}"/>
              </a:ext>
            </a:extLst>
          </p:cNvPr>
          <p:cNvSpPr txBox="1"/>
          <p:nvPr/>
        </p:nvSpPr>
        <p:spPr>
          <a:xfrm>
            <a:off x="6278741" y="5879166"/>
            <a:ext cx="3946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b="1" dirty="0">
                <a:latin typeface="DM Sans 9pt" pitchFamily="2" charset="77"/>
              </a:rPr>
              <a:t>100% customised answer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2E98A8-B388-DBD3-0768-E2B8CEEBEFAE}"/>
              </a:ext>
            </a:extLst>
          </p:cNvPr>
          <p:cNvSpPr txBox="1"/>
          <p:nvPr/>
        </p:nvSpPr>
        <p:spPr>
          <a:xfrm>
            <a:off x="3061079" y="4866802"/>
            <a:ext cx="1255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b="1" dirty="0">
                <a:latin typeface="DM Sans 9pt" pitchFamily="2" charset="77"/>
              </a:rPr>
              <a:t>Skill </a:t>
            </a:r>
          </a:p>
          <a:p>
            <a:r>
              <a:rPr lang="en-DE" b="1" dirty="0">
                <a:latin typeface="DM Sans 9pt" pitchFamily="2" charset="77"/>
              </a:rPr>
              <a:t>always in </a:t>
            </a:r>
          </a:p>
          <a:p>
            <a:r>
              <a:rPr lang="en-DE" b="1" dirty="0">
                <a:latin typeface="DM Sans 9pt" pitchFamily="2" charset="77"/>
              </a:rPr>
              <a:t>use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77D3B0-1774-2105-735E-5696275F9157}"/>
              </a:ext>
            </a:extLst>
          </p:cNvPr>
          <p:cNvSpPr txBox="1"/>
          <p:nvPr/>
        </p:nvSpPr>
        <p:spPr>
          <a:xfrm>
            <a:off x="563085" y="480358"/>
            <a:ext cx="4574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latin typeface="DM Sans 9pt" pitchFamily="2" charset="77"/>
              </a:rPr>
              <a:t>Minerva Research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912FA3-C711-FF7A-9439-E72A298B837C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8166124" y="2798832"/>
            <a:ext cx="0" cy="383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!!Straight Arrow Connector 70">
            <a:extLst>
              <a:ext uri="{FF2B5EF4-FFF2-40B4-BE49-F238E27FC236}">
                <a16:creationId xmlns:a16="http://schemas.microsoft.com/office/drawing/2014/main" id="{99103BD0-34A0-2843-75C0-AABB10120F49}"/>
              </a:ext>
            </a:extLst>
          </p:cNvPr>
          <p:cNvCxnSpPr>
            <a:cxnSpLocks/>
          </p:cNvCxnSpPr>
          <p:nvPr/>
        </p:nvCxnSpPr>
        <p:spPr>
          <a:xfrm>
            <a:off x="8166124" y="4671785"/>
            <a:ext cx="0" cy="3148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457C444-286D-CD17-012D-6AC30393D3FB}"/>
              </a:ext>
            </a:extLst>
          </p:cNvPr>
          <p:cNvCxnSpPr>
            <a:cxnSpLocks/>
            <a:stCxn id="20" idx="2"/>
            <a:endCxn id="59" idx="0"/>
          </p:cNvCxnSpPr>
          <p:nvPr/>
        </p:nvCxnSpPr>
        <p:spPr>
          <a:xfrm flipH="1">
            <a:off x="8166119" y="5614906"/>
            <a:ext cx="5" cy="2147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Slide Number Placeholder 110">
            <a:extLst>
              <a:ext uri="{FF2B5EF4-FFF2-40B4-BE49-F238E27FC236}">
                <a16:creationId xmlns:a16="http://schemas.microsoft.com/office/drawing/2014/main" id="{8681126C-1F65-74A9-07CE-5626BC4D7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36162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52778-AF92-56E4-8E00-B02608527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of value and loss&#10;&#10;Description automatically generated">
            <a:extLst>
              <a:ext uri="{FF2B5EF4-FFF2-40B4-BE49-F238E27FC236}">
                <a16:creationId xmlns:a16="http://schemas.microsoft.com/office/drawing/2014/main" id="{872BFAC3-F096-391A-D281-F79446478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197" y="2768084"/>
            <a:ext cx="3121603" cy="2804846"/>
          </a:xfrm>
          <a:prstGeom prst="rect">
            <a:avLst/>
          </a:prstGeom>
        </p:spPr>
      </p:pic>
      <p:pic>
        <p:nvPicPr>
          <p:cNvPr id="18" name="Picture 17" descr="A diagram of a graph showing different values&#10;&#10;Description automatically generated">
            <a:extLst>
              <a:ext uri="{FF2B5EF4-FFF2-40B4-BE49-F238E27FC236}">
                <a16:creationId xmlns:a16="http://schemas.microsoft.com/office/drawing/2014/main" id="{32D48266-4616-0E35-CC56-EF4C8B0E3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657" y="2623293"/>
            <a:ext cx="2695225" cy="17249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C2FD65B-B5A6-5DB4-28CB-FA3F7166741F}"/>
              </a:ext>
            </a:extLst>
          </p:cNvPr>
          <p:cNvSpPr txBox="1"/>
          <p:nvPr/>
        </p:nvSpPr>
        <p:spPr>
          <a:xfrm>
            <a:off x="3686221" y="1855897"/>
            <a:ext cx="48195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2000" b="1" dirty="0">
                <a:latin typeface="DM Sans 9pt" pitchFamily="2" charset="77"/>
              </a:rPr>
              <a:t>3 of Minervas </a:t>
            </a:r>
            <a:r>
              <a:rPr lang="en-DE" sz="2000" b="1" dirty="0">
                <a:solidFill>
                  <a:srgbClr val="0000FF"/>
                </a:solidFill>
                <a:latin typeface="DM Sans 9pt" pitchFamily="2" charset="77"/>
              </a:rPr>
              <a:t>psychological Frameworks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734E280-A82A-CB35-987A-988E7E7B0664}"/>
              </a:ext>
            </a:extLst>
          </p:cNvPr>
          <p:cNvSpPr/>
          <p:nvPr/>
        </p:nvSpPr>
        <p:spPr>
          <a:xfrm>
            <a:off x="4157388" y="5583802"/>
            <a:ext cx="4047418" cy="1097280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000" b="1" dirty="0">
                <a:solidFill>
                  <a:schemeClr val="bg1"/>
                </a:solidFill>
                <a:latin typeface="DM Sans 9pt" pitchFamily="2" charset="77"/>
              </a:rPr>
              <a:t>Prospect Theory &amp; </a:t>
            </a:r>
          </a:p>
          <a:p>
            <a:r>
              <a:rPr lang="en-DE" sz="2000" b="1" dirty="0">
                <a:solidFill>
                  <a:schemeClr val="bg1"/>
                </a:solidFill>
                <a:latin typeface="DM Sans 9pt" pitchFamily="2" charset="77"/>
              </a:rPr>
              <a:t>Loss Aversion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640D7D9-6E06-8F24-6EC3-EC43E6C7F0D8}"/>
              </a:ext>
            </a:extLst>
          </p:cNvPr>
          <p:cNvSpPr/>
          <p:nvPr/>
        </p:nvSpPr>
        <p:spPr>
          <a:xfrm>
            <a:off x="8675972" y="4559826"/>
            <a:ext cx="3342171" cy="1097280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000" b="1" dirty="0">
                <a:latin typeface="DM Sans 9pt" pitchFamily="2" charset="77"/>
              </a:rPr>
              <a:t>T</a:t>
            </a:r>
            <a:r>
              <a:rPr lang="en-GB" sz="2000" b="1" dirty="0">
                <a:latin typeface="DM Sans 9pt" pitchFamily="2" charset="77"/>
              </a:rPr>
              <a:t>h</a:t>
            </a:r>
            <a:r>
              <a:rPr lang="en-DE" sz="2000" b="1" dirty="0">
                <a:latin typeface="DM Sans 9pt" pitchFamily="2" charset="77"/>
              </a:rPr>
              <a:t>e Anchoring &amp; Framing Effectx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7EAFFE3-167A-7E4C-6ED2-0D47D1EA8B00}"/>
              </a:ext>
            </a:extLst>
          </p:cNvPr>
          <p:cNvSpPr/>
          <p:nvPr/>
        </p:nvSpPr>
        <p:spPr>
          <a:xfrm>
            <a:off x="441538" y="4486522"/>
            <a:ext cx="3342169" cy="1097280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000" b="1" dirty="0">
                <a:latin typeface="DM Sans 9pt" pitchFamily="2" charset="77"/>
              </a:rPr>
              <a:t>Social-Emotional Selectivity</a:t>
            </a:r>
          </a:p>
        </p:txBody>
      </p: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F782A533-6F03-101E-FE01-710E09F48845}"/>
              </a:ext>
            </a:extLst>
          </p:cNvPr>
          <p:cNvCxnSpPr>
            <a:cxnSpLocks/>
            <a:stCxn id="19" idx="2"/>
            <a:endCxn id="13" idx="0"/>
          </p:cNvCxnSpPr>
          <p:nvPr/>
        </p:nvCxnSpPr>
        <p:spPr>
          <a:xfrm rot="5400000">
            <a:off x="5993849" y="2665933"/>
            <a:ext cx="204301" cy="1270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6921DF33-D561-FEDE-D530-5801407BF70F}"/>
              </a:ext>
            </a:extLst>
          </p:cNvPr>
          <p:cNvCxnSpPr>
            <a:cxnSpLocks/>
          </p:cNvCxnSpPr>
          <p:nvPr/>
        </p:nvCxnSpPr>
        <p:spPr>
          <a:xfrm>
            <a:off x="8505777" y="2143965"/>
            <a:ext cx="1819493" cy="41345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2" name="Picture 81" descr="A diagram of a person's age&#10;&#10;Description automatically generated with medium confidence">
            <a:extLst>
              <a:ext uri="{FF2B5EF4-FFF2-40B4-BE49-F238E27FC236}">
                <a16:creationId xmlns:a16="http://schemas.microsoft.com/office/drawing/2014/main" id="{8A82E758-E6F3-7C50-8E01-292A2D2A28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328" y="2570133"/>
            <a:ext cx="2740437" cy="1600374"/>
          </a:xfrm>
          <a:prstGeom prst="rect">
            <a:avLst/>
          </a:prstGeom>
        </p:spPr>
      </p:pic>
      <p:cxnSp>
        <p:nvCxnSpPr>
          <p:cNvPr id="83" name="Curved Connector 82">
            <a:extLst>
              <a:ext uri="{FF2B5EF4-FFF2-40B4-BE49-F238E27FC236}">
                <a16:creationId xmlns:a16="http://schemas.microsoft.com/office/drawing/2014/main" id="{62C59AF3-03CD-BB6A-BCB2-C617769FE8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83547" y="2145295"/>
            <a:ext cx="1702674" cy="36029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84CCEAF-7E29-71A9-7F46-CE922F4ACE1B}"/>
              </a:ext>
            </a:extLst>
          </p:cNvPr>
          <p:cNvSpPr txBox="1"/>
          <p:nvPr/>
        </p:nvSpPr>
        <p:spPr>
          <a:xfrm>
            <a:off x="1018407" y="725557"/>
            <a:ext cx="106544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latin typeface="DM Sans 9pt" pitchFamily="2" charset="77"/>
              </a:rPr>
              <a:t>Our science is based on nobel price-winning research</a:t>
            </a:r>
          </a:p>
        </p:txBody>
      </p:sp>
      <p:sp>
        <p:nvSpPr>
          <p:cNvPr id="108" name="Slide Number Placeholder 107">
            <a:extLst>
              <a:ext uri="{FF2B5EF4-FFF2-40B4-BE49-F238E27FC236}">
                <a16:creationId xmlns:a16="http://schemas.microsoft.com/office/drawing/2014/main" id="{10F94F42-828F-1BF8-4C6E-4AEB40A8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69331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A4790-B68B-6065-8902-D4C28981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D8A1652-9FE2-389A-1136-79AB91BDD249}"/>
              </a:ext>
            </a:extLst>
          </p:cNvPr>
          <p:cNvSpPr/>
          <p:nvPr/>
        </p:nvSpPr>
        <p:spPr>
          <a:xfrm>
            <a:off x="1070311" y="1647955"/>
            <a:ext cx="2567180" cy="1551068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Lead </a:t>
            </a:r>
          </a:p>
          <a:p>
            <a:r>
              <a:rPr lang="en-DE" sz="2400" b="1" dirty="0">
                <a:latin typeface="DM Sans 9pt" pitchFamily="2" charset="77"/>
              </a:rPr>
              <a:t>incoming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BA69F69-E547-4612-28BA-56053768ADBD}"/>
              </a:ext>
            </a:extLst>
          </p:cNvPr>
          <p:cNvSpPr/>
          <p:nvPr/>
        </p:nvSpPr>
        <p:spPr>
          <a:xfrm>
            <a:off x="4693318" y="1647955"/>
            <a:ext cx="2567180" cy="1551068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Client</a:t>
            </a:r>
          </a:p>
          <a:p>
            <a:r>
              <a:rPr lang="en-DE" sz="2400" b="1" dirty="0">
                <a:latin typeface="DM Sans 9pt" pitchFamily="2" charset="77"/>
              </a:rPr>
              <a:t>Information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F2B57E-21E0-DDE8-0ACB-CDE21D4CFFC1}"/>
              </a:ext>
            </a:extLst>
          </p:cNvPr>
          <p:cNvCxnSpPr>
            <a:cxnSpLocks/>
          </p:cNvCxnSpPr>
          <p:nvPr/>
        </p:nvCxnSpPr>
        <p:spPr>
          <a:xfrm>
            <a:off x="3777631" y="2423489"/>
            <a:ext cx="7944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06F997E-9168-2227-B65D-5205CB67AACA}"/>
              </a:ext>
            </a:extLst>
          </p:cNvPr>
          <p:cNvSpPr/>
          <p:nvPr/>
        </p:nvSpPr>
        <p:spPr>
          <a:xfrm>
            <a:off x="8381716" y="1647955"/>
            <a:ext cx="2567180" cy="1551068"/>
          </a:xfrm>
          <a:prstGeom prst="roundRect">
            <a:avLst/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Minerva </a:t>
            </a:r>
          </a:p>
          <a:p>
            <a:r>
              <a:rPr lang="en-DE" sz="2400" b="1" dirty="0">
                <a:latin typeface="DM Sans 9pt" pitchFamily="2" charset="77"/>
              </a:rPr>
              <a:t>Research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BD385B8-C6C8-052C-6680-9679FC869A7D}"/>
              </a:ext>
            </a:extLst>
          </p:cNvPr>
          <p:cNvSpPr/>
          <p:nvPr/>
        </p:nvSpPr>
        <p:spPr>
          <a:xfrm>
            <a:off x="1070311" y="4009165"/>
            <a:ext cx="2567180" cy="1551068"/>
          </a:xfrm>
          <a:prstGeom prst="roundRect">
            <a:avLst/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Psychological</a:t>
            </a:r>
          </a:p>
          <a:p>
            <a:r>
              <a:rPr lang="en-DE" sz="2400" b="1" dirty="0">
                <a:latin typeface="DM Sans 9pt" pitchFamily="2" charset="77"/>
              </a:rPr>
              <a:t>Frameworks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0CD43D-071E-7C0A-EAC3-4716AF6E0721}"/>
              </a:ext>
            </a:extLst>
          </p:cNvPr>
          <p:cNvCxnSpPr>
            <a:cxnSpLocks/>
          </p:cNvCxnSpPr>
          <p:nvPr/>
        </p:nvCxnSpPr>
        <p:spPr>
          <a:xfrm>
            <a:off x="7413459" y="2423489"/>
            <a:ext cx="7944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89F0A34B-A70E-1A79-4A67-E6E4931E13DD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rot="5400000">
            <a:off x="5604533" y="-51608"/>
            <a:ext cx="810142" cy="7311405"/>
          </a:xfrm>
          <a:prstGeom prst="curvedConnector3">
            <a:avLst>
              <a:gd name="adj1" fmla="val 4509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EDD9E3F-788D-D5A3-BA08-B8E566D0AC3A}"/>
              </a:ext>
            </a:extLst>
          </p:cNvPr>
          <p:cNvCxnSpPr>
            <a:cxnSpLocks/>
          </p:cNvCxnSpPr>
          <p:nvPr/>
        </p:nvCxnSpPr>
        <p:spPr>
          <a:xfrm>
            <a:off x="3777631" y="4784699"/>
            <a:ext cx="7944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866C9B-6618-B573-F70E-8B9A2840B62C}"/>
              </a:ext>
            </a:extLst>
          </p:cNvPr>
          <p:cNvSpPr/>
          <p:nvPr/>
        </p:nvSpPr>
        <p:spPr>
          <a:xfrm>
            <a:off x="4693318" y="4009165"/>
            <a:ext cx="2567180" cy="1551068"/>
          </a:xfrm>
          <a:prstGeom prst="roundRect">
            <a:avLst/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Sales</a:t>
            </a:r>
          </a:p>
          <a:p>
            <a:r>
              <a:rPr lang="en-DE" sz="2400" b="1" dirty="0">
                <a:latin typeface="DM Sans 9pt" pitchFamily="2" charset="77"/>
              </a:rPr>
              <a:t>Advice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BD8A3-BC0F-988A-1D00-C7959B7DC355}"/>
              </a:ext>
            </a:extLst>
          </p:cNvPr>
          <p:cNvSpPr txBox="1"/>
          <p:nvPr/>
        </p:nvSpPr>
        <p:spPr>
          <a:xfrm>
            <a:off x="1018408" y="725557"/>
            <a:ext cx="4574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latin typeface="DM Sans 9pt" pitchFamily="2" charset="77"/>
              </a:rPr>
              <a:t>The Minerva workflow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F853DE-B391-6A52-C008-A80F4E5FB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64377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EC080-D14D-65C6-A1AA-4CFCFCDDB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6E4691-1472-A871-94B0-18D86A7386D3}"/>
              </a:ext>
            </a:extLst>
          </p:cNvPr>
          <p:cNvSpPr txBox="1"/>
          <p:nvPr/>
        </p:nvSpPr>
        <p:spPr>
          <a:xfrm>
            <a:off x="919216" y="3429000"/>
            <a:ext cx="83177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200" b="1" dirty="0">
                <a:latin typeface="DM Sans 9pt" pitchFamily="2" charset="77"/>
              </a:rPr>
              <a:t>But we </a:t>
            </a:r>
            <a:r>
              <a:rPr lang="en-DE" sz="7200" b="1" dirty="0">
                <a:solidFill>
                  <a:srgbClr val="0000FF"/>
                </a:solidFill>
                <a:latin typeface="DM Sans 9pt" pitchFamily="2" charset="77"/>
              </a:rPr>
              <a:t>don’t stop </a:t>
            </a:r>
            <a:r>
              <a:rPr lang="en-DE" sz="7200" b="1" dirty="0">
                <a:latin typeface="DM Sans 9pt" pitchFamily="2" charset="77"/>
              </a:rPr>
              <a:t>there…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11BBA-4E5E-C777-6FE7-24A59709A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82660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965A1-E96C-1E14-DFA0-3FF419CF9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8B02A5-C34B-A97E-6270-E3F4EE8A1035}"/>
              </a:ext>
            </a:extLst>
          </p:cNvPr>
          <p:cNvSpPr/>
          <p:nvPr/>
        </p:nvSpPr>
        <p:spPr>
          <a:xfrm>
            <a:off x="1070311" y="1647955"/>
            <a:ext cx="2567180" cy="1551068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Lead </a:t>
            </a:r>
          </a:p>
          <a:p>
            <a:r>
              <a:rPr lang="en-DE" sz="2400" b="1" dirty="0">
                <a:latin typeface="DM Sans 9pt" pitchFamily="2" charset="77"/>
              </a:rPr>
              <a:t>incoming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AD43218-6F41-865C-517E-D07A9D874A78}"/>
              </a:ext>
            </a:extLst>
          </p:cNvPr>
          <p:cNvSpPr/>
          <p:nvPr/>
        </p:nvSpPr>
        <p:spPr>
          <a:xfrm>
            <a:off x="4693318" y="1647955"/>
            <a:ext cx="2567180" cy="1551068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Client</a:t>
            </a:r>
          </a:p>
          <a:p>
            <a:r>
              <a:rPr lang="en-DE" sz="2400" b="1" dirty="0">
                <a:latin typeface="DM Sans 9pt" pitchFamily="2" charset="77"/>
              </a:rPr>
              <a:t>Information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621A03-1873-9396-9198-887B227A877C}"/>
              </a:ext>
            </a:extLst>
          </p:cNvPr>
          <p:cNvCxnSpPr>
            <a:cxnSpLocks/>
          </p:cNvCxnSpPr>
          <p:nvPr/>
        </p:nvCxnSpPr>
        <p:spPr>
          <a:xfrm>
            <a:off x="3777631" y="2423489"/>
            <a:ext cx="7944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65C958B-8974-C143-70AE-8F20DC66EA6F}"/>
              </a:ext>
            </a:extLst>
          </p:cNvPr>
          <p:cNvSpPr/>
          <p:nvPr/>
        </p:nvSpPr>
        <p:spPr>
          <a:xfrm>
            <a:off x="8381716" y="1647955"/>
            <a:ext cx="2567180" cy="1551068"/>
          </a:xfrm>
          <a:prstGeom prst="roundRect">
            <a:avLst/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Minerva </a:t>
            </a:r>
          </a:p>
          <a:p>
            <a:r>
              <a:rPr lang="en-DE" sz="2400" b="1" dirty="0">
                <a:latin typeface="DM Sans 9pt" pitchFamily="2" charset="77"/>
              </a:rPr>
              <a:t>Research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3A03E0B-177C-3845-550E-C02155506B20}"/>
              </a:ext>
            </a:extLst>
          </p:cNvPr>
          <p:cNvSpPr/>
          <p:nvPr/>
        </p:nvSpPr>
        <p:spPr>
          <a:xfrm>
            <a:off x="1070311" y="4009165"/>
            <a:ext cx="2567180" cy="1551068"/>
          </a:xfrm>
          <a:prstGeom prst="roundRect">
            <a:avLst/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Psychological</a:t>
            </a:r>
          </a:p>
          <a:p>
            <a:r>
              <a:rPr lang="en-DE" sz="2400" b="1" dirty="0">
                <a:latin typeface="DM Sans 9pt" pitchFamily="2" charset="77"/>
              </a:rPr>
              <a:t>Frameworks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B867BAD-AA32-5005-2C43-38343A8835D4}"/>
              </a:ext>
            </a:extLst>
          </p:cNvPr>
          <p:cNvCxnSpPr>
            <a:cxnSpLocks/>
          </p:cNvCxnSpPr>
          <p:nvPr/>
        </p:nvCxnSpPr>
        <p:spPr>
          <a:xfrm>
            <a:off x="7413459" y="2423489"/>
            <a:ext cx="7944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C456543-2B84-D81A-0551-82F2B18F5A3D}"/>
              </a:ext>
            </a:extLst>
          </p:cNvPr>
          <p:cNvCxnSpPr>
            <a:cxnSpLocks/>
          </p:cNvCxnSpPr>
          <p:nvPr/>
        </p:nvCxnSpPr>
        <p:spPr>
          <a:xfrm>
            <a:off x="3777631" y="4784699"/>
            <a:ext cx="7944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4857A1-5201-959A-AD12-6A43B435B1CB}"/>
              </a:ext>
            </a:extLst>
          </p:cNvPr>
          <p:cNvSpPr/>
          <p:nvPr/>
        </p:nvSpPr>
        <p:spPr>
          <a:xfrm>
            <a:off x="4693318" y="4009165"/>
            <a:ext cx="2567180" cy="1551068"/>
          </a:xfrm>
          <a:prstGeom prst="roundRect">
            <a:avLst/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Sales</a:t>
            </a:r>
          </a:p>
          <a:p>
            <a:r>
              <a:rPr lang="en-DE" sz="2400" b="1" dirty="0">
                <a:latin typeface="DM Sans 9pt" pitchFamily="2" charset="77"/>
              </a:rPr>
              <a:t>Advice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7547C03-5188-BE2B-6ED8-B4499016E503}"/>
              </a:ext>
            </a:extLst>
          </p:cNvPr>
          <p:cNvSpPr/>
          <p:nvPr/>
        </p:nvSpPr>
        <p:spPr>
          <a:xfrm>
            <a:off x="8381716" y="3974556"/>
            <a:ext cx="2567180" cy="1551068"/>
          </a:xfrm>
          <a:prstGeom prst="roundRect">
            <a:avLst/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DE" sz="2400" b="1" dirty="0">
                <a:latin typeface="DM Sans 9pt" pitchFamily="2" charset="77"/>
              </a:rPr>
              <a:t>Feedback</a:t>
            </a:r>
          </a:p>
          <a:p>
            <a:r>
              <a:rPr lang="en-DE" sz="2400" b="1" dirty="0">
                <a:latin typeface="DM Sans 9pt" pitchFamily="2" charset="77"/>
              </a:rPr>
              <a:t>Loop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F6B743C-335A-7E56-B0B5-06C07272D2CC}"/>
              </a:ext>
            </a:extLst>
          </p:cNvPr>
          <p:cNvCxnSpPr>
            <a:cxnSpLocks/>
          </p:cNvCxnSpPr>
          <p:nvPr/>
        </p:nvCxnSpPr>
        <p:spPr>
          <a:xfrm>
            <a:off x="7413459" y="4810164"/>
            <a:ext cx="7944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DD3F36-8A86-B3AE-84BE-08AFB7792A68}"/>
              </a:ext>
            </a:extLst>
          </p:cNvPr>
          <p:cNvSpPr txBox="1"/>
          <p:nvPr/>
        </p:nvSpPr>
        <p:spPr>
          <a:xfrm>
            <a:off x="1018408" y="725557"/>
            <a:ext cx="4574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latin typeface="DM Sans 9pt" pitchFamily="2" charset="77"/>
              </a:rPr>
              <a:t>The Minerva workflow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4EBC7226-E61B-AE1B-313E-92FA7C3A61A3}"/>
              </a:ext>
            </a:extLst>
          </p:cNvPr>
          <p:cNvCxnSpPr>
            <a:cxnSpLocks/>
          </p:cNvCxnSpPr>
          <p:nvPr/>
        </p:nvCxnSpPr>
        <p:spPr>
          <a:xfrm rot="5400000">
            <a:off x="5604533" y="-51608"/>
            <a:ext cx="810142" cy="7311405"/>
          </a:xfrm>
          <a:prstGeom prst="curvedConnector3">
            <a:avLst>
              <a:gd name="adj1" fmla="val 4509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2DBE44-64AC-D79A-B597-AD37176E5648}"/>
              </a:ext>
            </a:extLst>
          </p:cNvPr>
          <p:cNvCxnSpPr/>
          <p:nvPr/>
        </p:nvCxnSpPr>
        <p:spPr>
          <a:xfrm flipV="1">
            <a:off x="10408596" y="3199023"/>
            <a:ext cx="0" cy="775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D8400E5-B780-7E38-44D2-72439038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9248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53DF6-04F8-37CD-B650-6AC22F3E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6A6036D-4E6B-3D27-D373-BD6451CA87CA}"/>
              </a:ext>
            </a:extLst>
          </p:cNvPr>
          <p:cNvSpPr/>
          <p:nvPr/>
        </p:nvSpPr>
        <p:spPr>
          <a:xfrm>
            <a:off x="550379" y="3220539"/>
            <a:ext cx="1818904" cy="953869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000" b="1" dirty="0">
                <a:latin typeface="DM Sans 9pt" pitchFamily="2" charset="77"/>
              </a:rPr>
              <a:t>Minerva Assumption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905938A-7BC7-C573-7567-EBFB199086F6}"/>
              </a:ext>
            </a:extLst>
          </p:cNvPr>
          <p:cNvSpPr/>
          <p:nvPr/>
        </p:nvSpPr>
        <p:spPr>
          <a:xfrm>
            <a:off x="2369283" y="1766825"/>
            <a:ext cx="1943993" cy="953868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000" b="1" dirty="0">
                <a:latin typeface="DM Sans 9pt" pitchFamily="2" charset="77"/>
              </a:rPr>
              <a:t>Sales Conversation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04A56E9-2669-E31E-2B5C-06FA9E8CD0CA}"/>
              </a:ext>
            </a:extLst>
          </p:cNvPr>
          <p:cNvSpPr/>
          <p:nvPr/>
        </p:nvSpPr>
        <p:spPr>
          <a:xfrm>
            <a:off x="6977483" y="1383952"/>
            <a:ext cx="1188535" cy="584776"/>
          </a:xfrm>
          <a:prstGeom prst="roundRect">
            <a:avLst/>
          </a:prstGeom>
          <a:solidFill>
            <a:srgbClr val="0000FF">
              <a:alpha val="47000"/>
            </a:srgb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400" b="1" dirty="0">
                <a:latin typeface="DM Sans 9pt" pitchFamily="2" charset="77"/>
              </a:rPr>
              <a:t>Human in the loop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815B1F3-6EB6-54CA-82DE-C9093ED5B60F}"/>
              </a:ext>
            </a:extLst>
          </p:cNvPr>
          <p:cNvSpPr/>
          <p:nvPr/>
        </p:nvSpPr>
        <p:spPr>
          <a:xfrm>
            <a:off x="4963371" y="4873894"/>
            <a:ext cx="2089709" cy="902525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000" b="1" dirty="0">
                <a:latin typeface="DM Sans 9pt" pitchFamily="2" charset="77"/>
              </a:rPr>
              <a:t>Compare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7AAFE64-80AA-8994-0D67-86A46185B316}"/>
              </a:ext>
            </a:extLst>
          </p:cNvPr>
          <p:cNvSpPr/>
          <p:nvPr/>
        </p:nvSpPr>
        <p:spPr>
          <a:xfrm>
            <a:off x="2369282" y="4873893"/>
            <a:ext cx="1943993" cy="902525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000" b="1" dirty="0">
                <a:latin typeface="DM Sans 9pt" pitchFamily="2" charset="77"/>
              </a:rPr>
              <a:t>Improve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B85E9317-4EB7-6BFA-F3F1-A46D9F905FEE}"/>
              </a:ext>
            </a:extLst>
          </p:cNvPr>
          <p:cNvSpPr/>
          <p:nvPr/>
        </p:nvSpPr>
        <p:spPr>
          <a:xfrm>
            <a:off x="7053081" y="3220539"/>
            <a:ext cx="1818904" cy="953869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000" b="1" dirty="0">
                <a:latin typeface="DM Sans 9pt" pitchFamily="2" charset="77"/>
              </a:rPr>
              <a:t>Outcome</a:t>
            </a:r>
          </a:p>
        </p:txBody>
      </p:sp>
      <p:cxnSp>
        <p:nvCxnSpPr>
          <p:cNvPr id="90" name="Curved Connector 89">
            <a:extLst>
              <a:ext uri="{FF2B5EF4-FFF2-40B4-BE49-F238E27FC236}">
                <a16:creationId xmlns:a16="http://schemas.microsoft.com/office/drawing/2014/main" id="{5F059171-906A-D236-301F-D7AA3E6D9AE5}"/>
              </a:ext>
            </a:extLst>
          </p:cNvPr>
          <p:cNvCxnSpPr>
            <a:cxnSpLocks/>
            <a:stCxn id="20" idx="0"/>
            <a:endCxn id="22" idx="1"/>
          </p:cNvCxnSpPr>
          <p:nvPr/>
        </p:nvCxnSpPr>
        <p:spPr>
          <a:xfrm rot="5400000" flipH="1" flipV="1">
            <a:off x="1426167" y="2277423"/>
            <a:ext cx="976780" cy="909452"/>
          </a:xfrm>
          <a:prstGeom prst="curvedConnector2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urved Connector 91">
            <a:extLst>
              <a:ext uri="{FF2B5EF4-FFF2-40B4-BE49-F238E27FC236}">
                <a16:creationId xmlns:a16="http://schemas.microsoft.com/office/drawing/2014/main" id="{577F4DE0-4423-9FDB-1069-95EC5CE51D3B}"/>
              </a:ext>
            </a:extLst>
          </p:cNvPr>
          <p:cNvCxnSpPr>
            <a:cxnSpLocks/>
            <a:stCxn id="23" idx="3"/>
            <a:endCxn id="61" idx="0"/>
          </p:cNvCxnSpPr>
          <p:nvPr/>
        </p:nvCxnSpPr>
        <p:spPr>
          <a:xfrm flipH="1">
            <a:off x="7962533" y="1676340"/>
            <a:ext cx="203485" cy="1544199"/>
          </a:xfrm>
          <a:prstGeom prst="curvedConnector4">
            <a:avLst>
              <a:gd name="adj1" fmla="val -112342"/>
              <a:gd name="adj2" fmla="val 59467"/>
            </a:avLst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urved Connector 97">
            <a:extLst>
              <a:ext uri="{FF2B5EF4-FFF2-40B4-BE49-F238E27FC236}">
                <a16:creationId xmlns:a16="http://schemas.microsoft.com/office/drawing/2014/main" id="{E962503F-E91E-BB2D-C7D9-DD5AD287CDB1}"/>
              </a:ext>
            </a:extLst>
          </p:cNvPr>
          <p:cNvCxnSpPr>
            <a:cxnSpLocks/>
            <a:stCxn id="61" idx="2"/>
            <a:endCxn id="26" idx="3"/>
          </p:cNvCxnSpPr>
          <p:nvPr/>
        </p:nvCxnSpPr>
        <p:spPr>
          <a:xfrm rot="5400000">
            <a:off x="6932433" y="4295056"/>
            <a:ext cx="1150749" cy="909453"/>
          </a:xfrm>
          <a:prstGeom prst="curvedConnector2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27034A0-754F-EDE8-4551-9D8A1C4BDF8F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4313276" y="1676340"/>
            <a:ext cx="2664207" cy="567419"/>
          </a:xfrm>
          <a:prstGeom prst="straightConnector1">
            <a:avLst/>
          </a:prstGeom>
          <a:ln w="349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4FDE1EF-49BA-CF34-37D9-4817BAB2289D}"/>
              </a:ext>
            </a:extLst>
          </p:cNvPr>
          <p:cNvCxnSpPr>
            <a:cxnSpLocks/>
            <a:stCxn id="26" idx="1"/>
            <a:endCxn id="28" idx="3"/>
          </p:cNvCxnSpPr>
          <p:nvPr/>
        </p:nvCxnSpPr>
        <p:spPr>
          <a:xfrm flipH="1" flipV="1">
            <a:off x="4313275" y="5325156"/>
            <a:ext cx="650096" cy="1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8691E10F-D909-58BC-E993-FA0BC7DB10CD}"/>
              </a:ext>
            </a:extLst>
          </p:cNvPr>
          <p:cNvCxnSpPr>
            <a:cxnSpLocks/>
            <a:stCxn id="28" idx="1"/>
            <a:endCxn id="20" idx="2"/>
          </p:cNvCxnSpPr>
          <p:nvPr/>
        </p:nvCxnSpPr>
        <p:spPr>
          <a:xfrm rot="10800000">
            <a:off x="1459832" y="4174408"/>
            <a:ext cx="909451" cy="1150748"/>
          </a:xfrm>
          <a:prstGeom prst="curvedConnector2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23FC5A9-C8B5-EE9B-59AB-506ADF3E6ECF}"/>
              </a:ext>
            </a:extLst>
          </p:cNvPr>
          <p:cNvSpPr txBox="1"/>
          <p:nvPr/>
        </p:nvSpPr>
        <p:spPr>
          <a:xfrm>
            <a:off x="2903652" y="3301893"/>
            <a:ext cx="3469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b="1" dirty="0">
                <a:latin typeface="DM Sans 9pt" pitchFamily="2" charset="77"/>
              </a:rPr>
              <a:t>Amount of users is </a:t>
            </a:r>
          </a:p>
          <a:p>
            <a:pPr algn="ctr"/>
            <a:r>
              <a:rPr lang="en-DE" b="1" dirty="0">
                <a:solidFill>
                  <a:srgbClr val="0000FF"/>
                </a:solidFill>
                <a:latin typeface="DM Sans 9pt" pitchFamily="2" charset="77"/>
              </a:rPr>
              <a:t>positvely correlated </a:t>
            </a:r>
          </a:p>
          <a:p>
            <a:pPr algn="ctr"/>
            <a:r>
              <a:rPr lang="en-DE" b="1" dirty="0">
                <a:latin typeface="DM Sans 9pt" pitchFamily="2" charset="77"/>
              </a:rPr>
              <a:t>to model improvement</a:t>
            </a:r>
            <a:endParaRPr lang="en-DE" sz="1800" b="1" dirty="0">
              <a:latin typeface="DM Sans 9pt" pitchFamily="2" charset="77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CABECB4A-A8F2-22E1-51D7-BD2FFE48E7E9}"/>
              </a:ext>
            </a:extLst>
          </p:cNvPr>
          <p:cNvCxnSpPr/>
          <p:nvPr/>
        </p:nvCxnSpPr>
        <p:spPr>
          <a:xfrm>
            <a:off x="9376012" y="1766824"/>
            <a:ext cx="0" cy="40095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85A5B09C-6F4C-307C-D684-BFA5D3656F43}"/>
              </a:ext>
            </a:extLst>
          </p:cNvPr>
          <p:cNvSpPr txBox="1"/>
          <p:nvPr/>
        </p:nvSpPr>
        <p:spPr>
          <a:xfrm>
            <a:off x="9495935" y="2627124"/>
            <a:ext cx="24724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800" b="1" dirty="0">
                <a:latin typeface="DM Sans 9pt" pitchFamily="2" charset="77"/>
              </a:rPr>
              <a:t>Minerva sets </a:t>
            </a:r>
          </a:p>
          <a:p>
            <a:pPr algn="ctr"/>
            <a:r>
              <a:rPr lang="en-DE" sz="2800" b="1" dirty="0">
                <a:solidFill>
                  <a:srgbClr val="0000FF"/>
                </a:solidFill>
                <a:latin typeface="DM Sans 9pt" pitchFamily="2" charset="77"/>
              </a:rPr>
              <a:t>entry barriers </a:t>
            </a:r>
          </a:p>
          <a:p>
            <a:pPr algn="ctr"/>
            <a:r>
              <a:rPr lang="en-DE" sz="2800" b="1" dirty="0">
                <a:latin typeface="DM Sans 9pt" pitchFamily="2" charset="77"/>
              </a:rPr>
              <a:t>for their competiton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D368667-3536-EFC0-5743-550E77DD2778}"/>
              </a:ext>
            </a:extLst>
          </p:cNvPr>
          <p:cNvSpPr txBox="1"/>
          <p:nvPr/>
        </p:nvSpPr>
        <p:spPr>
          <a:xfrm>
            <a:off x="1018408" y="725557"/>
            <a:ext cx="10061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latin typeface="DM Sans 9pt" pitchFamily="2" charset="77"/>
              </a:rPr>
              <a:t>Cloover will become a self improving </a:t>
            </a:r>
            <a:r>
              <a:rPr lang="en-DE" sz="3200" b="1" dirty="0">
                <a:solidFill>
                  <a:srgbClr val="0000FF"/>
                </a:solidFill>
                <a:latin typeface="DM Sans 9pt" pitchFamily="2" charset="77"/>
              </a:rPr>
              <a:t>data moat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DCD16A99-287C-5234-F6B8-F58DF9C09A85}"/>
              </a:ext>
            </a:extLst>
          </p:cNvPr>
          <p:cNvCxnSpPr>
            <a:cxnSpLocks/>
            <a:stCxn id="22" idx="3"/>
            <a:endCxn id="123" idx="1"/>
          </p:cNvCxnSpPr>
          <p:nvPr/>
        </p:nvCxnSpPr>
        <p:spPr>
          <a:xfrm>
            <a:off x="4313276" y="2243759"/>
            <a:ext cx="1303697" cy="285293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661162FD-9F48-036E-8AB7-9B293D6E9E72}"/>
              </a:ext>
            </a:extLst>
          </p:cNvPr>
          <p:cNvSpPr/>
          <p:nvPr/>
        </p:nvSpPr>
        <p:spPr>
          <a:xfrm>
            <a:off x="5616973" y="2180311"/>
            <a:ext cx="1463440" cy="697482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000" b="1" dirty="0">
                <a:latin typeface="DM Sans 9pt" pitchFamily="2" charset="77"/>
              </a:rPr>
              <a:t>Sales Data</a:t>
            </a:r>
          </a:p>
        </p:txBody>
      </p:sp>
      <p:cxnSp>
        <p:nvCxnSpPr>
          <p:cNvPr id="127" name="Curved Connector 126">
            <a:extLst>
              <a:ext uri="{FF2B5EF4-FFF2-40B4-BE49-F238E27FC236}">
                <a16:creationId xmlns:a16="http://schemas.microsoft.com/office/drawing/2014/main" id="{85F06CE3-4274-2B11-6F79-AF83AFC3F1F1}"/>
              </a:ext>
            </a:extLst>
          </p:cNvPr>
          <p:cNvCxnSpPr>
            <a:cxnSpLocks/>
            <a:stCxn id="123" idx="3"/>
            <a:endCxn id="61" idx="0"/>
          </p:cNvCxnSpPr>
          <p:nvPr/>
        </p:nvCxnSpPr>
        <p:spPr>
          <a:xfrm>
            <a:off x="7080413" y="2529052"/>
            <a:ext cx="882120" cy="691487"/>
          </a:xfrm>
          <a:prstGeom prst="curvedConnector2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5E232DF1-21CE-F810-E129-8F83B7688F52}"/>
              </a:ext>
            </a:extLst>
          </p:cNvPr>
          <p:cNvSpPr txBox="1"/>
          <p:nvPr/>
        </p:nvSpPr>
        <p:spPr>
          <a:xfrm rot="20910959">
            <a:off x="3882301" y="1621420"/>
            <a:ext cx="3469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latin typeface="DM Sans 9pt" pitchFamily="2" charset="77"/>
              </a:rPr>
              <a:t>Edge Cases</a:t>
            </a:r>
          </a:p>
        </p:txBody>
      </p:sp>
      <p:sp>
        <p:nvSpPr>
          <p:cNvPr id="137" name="Slide Number Placeholder 136">
            <a:extLst>
              <a:ext uri="{FF2B5EF4-FFF2-40B4-BE49-F238E27FC236}">
                <a16:creationId xmlns:a16="http://schemas.microsoft.com/office/drawing/2014/main" id="{E5AB2DEB-932D-7A5A-92B3-7CBB4229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9201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5BB583-CB86-3F85-ACF2-7F7D75E8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13B787-12B0-6382-3AB4-29BF0341069C}"/>
              </a:ext>
            </a:extLst>
          </p:cNvPr>
          <p:cNvSpPr txBox="1"/>
          <p:nvPr/>
        </p:nvSpPr>
        <p:spPr>
          <a:xfrm>
            <a:off x="501002" y="2408274"/>
            <a:ext cx="116909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200" b="1" dirty="0">
                <a:latin typeface="DM Sans 9pt" pitchFamily="2" charset="77"/>
              </a:rPr>
              <a:t>Now Marco</a:t>
            </a:r>
          </a:p>
          <a:p>
            <a:r>
              <a:rPr lang="en-DE" sz="4400" b="1" i="1" dirty="0">
                <a:latin typeface="DM Sans 9pt" pitchFamily="2" charset="77"/>
              </a:rPr>
              <a:t>and all other installers</a:t>
            </a:r>
          </a:p>
          <a:p>
            <a:r>
              <a:rPr lang="en-GB" sz="7200" b="1" dirty="0">
                <a:latin typeface="DM Sans 9pt" pitchFamily="2" charset="77"/>
              </a:rPr>
              <a:t>have</a:t>
            </a:r>
            <a:r>
              <a:rPr lang="en-DE" sz="7200" b="1" dirty="0">
                <a:latin typeface="DM Sans 9pt" pitchFamily="2" charset="77"/>
              </a:rPr>
              <a:t> to </a:t>
            </a:r>
            <a:r>
              <a:rPr lang="en-DE" sz="7200" b="1" dirty="0">
                <a:solidFill>
                  <a:srgbClr val="0000FF"/>
                </a:solidFill>
                <a:latin typeface="DM Sans 9pt" pitchFamily="2" charset="77"/>
              </a:rPr>
              <a:t>use Cloover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FBC75-7D8A-16D1-1225-517E19F6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DE1-8A5A-A14A-9775-149952CB6A56}" type="slidenum">
              <a:rPr lang="en-DE" smtClean="0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0131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281</Words>
  <Application>Microsoft Macintosh PowerPoint</Application>
  <PresentationFormat>Widescreen</PresentationFormat>
  <Paragraphs>142</Paragraphs>
  <Slides>18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DM Sans 9pt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Konrad te Heesen</dc:creator>
  <cp:lastModifiedBy>Konrad te Heesen</cp:lastModifiedBy>
  <cp:revision>19</cp:revision>
  <dcterms:created xsi:type="dcterms:W3CDTF">2026-04-08T19:44:03Z</dcterms:created>
  <dcterms:modified xsi:type="dcterms:W3CDTF">2026-04-09T09:07:43Z</dcterms:modified>
</cp:coreProperties>
</file>